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Play"/>
      <p:regular r:id="rId15"/>
      <p:bold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  <p:embeddedFont>
      <p:font typeface="Comfortaa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/mQHFss73euzjo7asqYWbTDwJ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Merriweather-bold.fntdata"/><Relationship Id="rId21" Type="http://schemas.openxmlformats.org/officeDocument/2006/relationships/font" Target="fonts/Merriweather-regular.fntdata"/><Relationship Id="rId24" Type="http://schemas.openxmlformats.org/officeDocument/2006/relationships/font" Target="fonts/Merriweather-boldItalic.fntdata"/><Relationship Id="rId23" Type="http://schemas.openxmlformats.org/officeDocument/2006/relationships/font" Target="fonts/Merriweather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omfortaa-bold.fntdata"/><Relationship Id="rId25" Type="http://schemas.openxmlformats.org/officeDocument/2006/relationships/font" Target="fonts/Comfortaa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font" Target="fonts/Play-bold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31a57d7c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31a57d7c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Uploaded current deck: /mnt/data/Mechanistic_Interpretability_AI_Club_Deck (1).pptx</a:t>
            </a:r>
            <a:br>
              <a:rPr lang="en-US"/>
            </a:br>
            <a:r>
              <a:rPr lang="en-US"/>
              <a:t>- Uploaded instructor review: /mnt/data/mechanistic_interpretability_instructor_review_technical.pdf</a:t>
            </a:r>
            <a:br>
              <a:rPr lang="en-US"/>
            </a:br>
            <a:r>
              <a:rPr lang="en-US"/>
              <a:t>- Uploaded teaching session plan: /mnt/data/Mechanistic Interpretability Teaching Session Plan.pdf</a:t>
            </a:r>
            <a:endParaRPr/>
          </a:p>
        </p:txBody>
      </p:sp>
      <p:sp>
        <p:nvSpPr>
          <p:cNvPr id="14" name="Google Shape;14;g3d31a57d7c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Geiger et al. (2025), Causal Abstraction: A Theoretical Foundation for Mechanistic Interpretability, JMLR — https://www.jmlr.org/papers/v26/23-0058.html</a:t>
            </a:r>
            <a:br>
              <a:rPr lang="en-US"/>
            </a:br>
            <a:r>
              <a:rPr lang="en-US"/>
              <a:t>- OpenAI (2025), Understanding neural networks through sparse circuits — https://openai.com/index/understanding-neural-networks-through-sparse-circuits/</a:t>
            </a:r>
            <a:br>
              <a:rPr lang="en-US"/>
            </a:br>
            <a:r>
              <a:rPr lang="en-US"/>
              <a:t>- Mechanistic Interpretability Teaching Session Plan (uploaded), pp. 1–4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Anthropic (2024), Mapping the Mind of a Large Language Model — https://www.anthropic.com/research/mapping-mind-language-model</a:t>
            </a:r>
            <a:br>
              <a:rPr lang="en-US"/>
            </a:br>
            <a:r>
              <a:rPr lang="en-US"/>
              <a:t>- Mechanistic Interpretability Instructor Review Guide (uploaded), p. 2</a:t>
            </a:r>
            <a:br>
              <a:rPr lang="en-US"/>
            </a:br>
            <a:r>
              <a:rPr lang="en-US"/>
              <a:t>- Mechanistic Interpretability Teaching Session Plan (uploaded), pp. 1–3</a:t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Elhage et al. (2022), Toy Models of Superposition — https://arxiv.org/abs/2209.10652</a:t>
            </a:r>
            <a:br>
              <a:rPr lang="en-US"/>
            </a:br>
            <a:r>
              <a:rPr lang="en-US"/>
              <a:t>- Mechanistic Interpretability Instructor Review Guide (uploaded), pp. 2, 4</a:t>
            </a:r>
            <a:br>
              <a:rPr lang="en-US"/>
            </a:br>
            <a:r>
              <a:rPr lang="en-US"/>
              <a:t>- Anthropic interpretability info sheet summary surfaced in search — turn4search1</a:t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Heimersheim et al. (2024), How to use and interpret activation patching — https://arxiv.org/abs/2404.15255</a:t>
            </a:r>
            <a:br>
              <a:rPr lang="en-US"/>
            </a:br>
            <a:r>
              <a:rPr lang="en-US"/>
              <a:t>- Zhang et al. (2023), Towards Best Practices of Activation Patching in Language Models — https://arxiv.org/abs/2309.16042</a:t>
            </a:r>
            <a:br>
              <a:rPr lang="en-US"/>
            </a:br>
            <a:r>
              <a:rPr lang="en-US"/>
              <a:t>- Mechanistic Interpretability Teaching Session Plan (uploaded), pp. 4–5</a:t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heatmap on this slide is a stylized reconstruction for classroom clarity, based on the TransformerLens IOI activation patching demo rather than a direct screenshot.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Wang et al. (2022), Interpretability in the Wild: a Circuit for Indirect Object Identification in GPT-2 small — https://arxiv.org/abs/2211.00593</a:t>
            </a:r>
            <a:br>
              <a:rPr lang="en-US"/>
            </a:br>
            <a:r>
              <a:rPr lang="en-US"/>
              <a:t>- TransformerLens Main Demo Notebook, activation patching on IOI — lines 384–453 in turn2view1</a:t>
            </a:r>
            <a:br>
              <a:rPr lang="en-US"/>
            </a:br>
            <a:r>
              <a:rPr lang="en-US"/>
              <a:t>- Mechanistic Interpretability Instructor Review Guide (uploaded), pp. 3–4</a:t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OpenAI (2024), Extracting concepts from GPT-4 — https://openai.com/index/extracting-concepts-from-gpt-4/</a:t>
            </a:r>
            <a:br>
              <a:rPr lang="en-US"/>
            </a:br>
            <a:r>
              <a:rPr lang="en-US"/>
              <a:t>- Anthropic (2024), Mapping the Mind of a Large Language Model — https://www.anthropic.com/research/mapping-mind-language-model</a:t>
            </a:r>
            <a:br>
              <a:rPr lang="en-US"/>
            </a:br>
            <a:r>
              <a:rPr lang="en-US"/>
              <a:t>- Mechanistic Interpretability Instructor Review Guide (uploaded), p. 4</a:t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right-hand response panels are a simplified classroom reconstruction of Anthropic’s “Activating Features Alters Model Behavior” example.</a:t>
            </a:r>
            <a:br>
              <a:rPr lang="en-US"/>
            </a:b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Anthropic (2024), Mapping the Mind of a Large Language Model — especially Golden Gate Bridge feature and sycophantic praise example — https://www.anthropic.com/research/mapping-mind-language-model</a:t>
            </a:r>
            <a:br>
              <a:rPr lang="en-US"/>
            </a:br>
            <a:r>
              <a:rPr lang="en-US"/>
              <a:t>- Mechanistic Interpretability Teaching Session Plan (uploaded), pp. 4–6</a:t>
            </a:r>
            <a:endParaRPr/>
          </a:p>
        </p:txBody>
      </p:sp>
      <p:sp>
        <p:nvSpPr>
          <p:cNvPr id="253" name="Google Shape;2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Sharkey et al. (2025), Open Problems in Mechanistic Interpretability — https://arxiv.org/abs/2501.16496</a:t>
            </a:r>
            <a:br>
              <a:rPr lang="en-US"/>
            </a:br>
            <a:r>
              <a:rPr lang="en-US"/>
              <a:t>- OpenAI (2024), Extracting concepts from GPT-4 — limitations section — https://openai.com/index/extracting-concepts-from-gpt-4/</a:t>
            </a:r>
            <a:br>
              <a:rPr lang="en-US"/>
            </a:br>
            <a:r>
              <a:rPr lang="en-US"/>
              <a:t>- Mechanistic Interpretability Instructor Review Guide (uploaded), pp. 4–5</a:t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Mechanistic Interpretability Teaching Session Plan (uploaded), discussion questions and handout summary, pp. 10–11</a:t>
            </a:r>
            <a:br>
              <a:rPr lang="en-US"/>
            </a:br>
            <a:r>
              <a:rPr lang="en-US"/>
              <a:t>- Mechanistic Interpretability Instructor Review Guide (uploaded), self-test and oversimplifications, p. 5</a:t>
            </a:r>
            <a:endParaRPr/>
          </a:p>
        </p:txBody>
      </p:sp>
      <p:sp>
        <p:nvSpPr>
          <p:cNvPr id="316" name="Google Shape;3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g3d31a57d7c2_0_0"/>
          <p:cNvCxnSpPr/>
          <p:nvPr/>
        </p:nvCxnSpPr>
        <p:spPr>
          <a:xfrm>
            <a:off x="566928" y="310896"/>
            <a:ext cx="11018400" cy="0"/>
          </a:xfrm>
          <a:prstGeom prst="straightConnector1">
            <a:avLst/>
          </a:prstGeom>
          <a:noFill/>
          <a:ln cap="flat" cmpd="sng" w="17775">
            <a:solidFill>
              <a:srgbClr val="31D0FF">
                <a:alpha val="8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g3d31a57d7c2_0_0"/>
          <p:cNvSpPr/>
          <p:nvPr/>
        </p:nvSpPr>
        <p:spPr>
          <a:xfrm>
            <a:off x="2901653" y="3317693"/>
            <a:ext cx="795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Can We Actually Look Inside an AI?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g3d31a57d7c2_0_0"/>
          <p:cNvSpPr/>
          <p:nvPr/>
        </p:nvSpPr>
        <p:spPr>
          <a:xfrm>
            <a:off x="2361276" y="2101538"/>
            <a:ext cx="80877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D0FF"/>
              </a:buClr>
              <a:buSzPts val="1000"/>
              <a:buFont typeface="Arial"/>
              <a:buNone/>
            </a:pPr>
            <a:r>
              <a:rPr i="0" lang="en-US" sz="4600" u="none" cap="none" strike="noStrike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Mechanistic interpretability:</a:t>
            </a:r>
            <a:endParaRPr i="0" sz="4600" u="none" cap="none" strike="noStrike"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" name="Google Shape;19;g3d31a57d7c2_0_0"/>
          <p:cNvSpPr/>
          <p:nvPr/>
        </p:nvSpPr>
        <p:spPr>
          <a:xfrm>
            <a:off x="346874" y="684351"/>
            <a:ext cx="3446700" cy="1161300"/>
          </a:xfrm>
          <a:prstGeom prst="roundRect">
            <a:avLst>
              <a:gd fmla="val 5161" name="adj"/>
            </a:avLst>
          </a:prstGeom>
          <a:solidFill>
            <a:srgbClr val="0B1E39"/>
          </a:solidFill>
          <a:ln cap="flat" cmpd="sng" w="104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5610" rotWithShape="0" algn="bl" dir="2700000" dist="6244">
              <a:srgbClr val="000000">
                <a:alpha val="18040"/>
              </a:srgbClr>
            </a:outerShdw>
          </a:effectLst>
        </p:spPr>
        <p:txBody>
          <a:bodyPr anchorCtr="0" anchor="ctr" bIns="74925" lIns="74925" spcFirstLastPara="1" rIns="74925" wrap="square" tIns="74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7"/>
          </a:p>
        </p:txBody>
      </p:sp>
      <p:sp>
        <p:nvSpPr>
          <p:cNvPr id="20" name="Google Shape;20;g3d31a57d7c2_0_0"/>
          <p:cNvSpPr/>
          <p:nvPr/>
        </p:nvSpPr>
        <p:spPr>
          <a:xfrm>
            <a:off x="515517" y="901916"/>
            <a:ext cx="31095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39"/>
              <a:buFont typeface="Play"/>
              <a:buNone/>
            </a:pPr>
            <a:r>
              <a:rPr b="1" i="0" lang="en-US" sz="1638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If an AI gives a strange answer, how do we know what happened inside?</a:t>
            </a:r>
            <a:endParaRPr b="0" i="0" sz="16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d31a57d7c2_0_0"/>
          <p:cNvSpPr/>
          <p:nvPr/>
        </p:nvSpPr>
        <p:spPr>
          <a:xfrm>
            <a:off x="9426415" y="4058332"/>
            <a:ext cx="2331600" cy="338400"/>
          </a:xfrm>
          <a:prstGeom prst="roundRect">
            <a:avLst>
              <a:gd fmla="val 27027" name="adj"/>
            </a:avLst>
          </a:prstGeom>
          <a:solidFill>
            <a:srgbClr val="12345A"/>
          </a:solidFill>
          <a:ln cap="flat" cmpd="sng" w="95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d31a57d7c2_0_0"/>
          <p:cNvSpPr/>
          <p:nvPr/>
        </p:nvSpPr>
        <p:spPr>
          <a:xfrm>
            <a:off x="9426415" y="4067476"/>
            <a:ext cx="2331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D0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1D0FF"/>
                </a:solidFill>
                <a:latin typeface="Arial"/>
                <a:ea typeface="Arial"/>
                <a:cs typeface="Arial"/>
                <a:sym typeface="Arial"/>
              </a:rPr>
              <a:t>polysemanticity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3d31a57d7c2_0_0"/>
          <p:cNvSpPr/>
          <p:nvPr/>
        </p:nvSpPr>
        <p:spPr>
          <a:xfrm>
            <a:off x="9426415" y="4625260"/>
            <a:ext cx="2331600" cy="338400"/>
          </a:xfrm>
          <a:prstGeom prst="roundRect">
            <a:avLst>
              <a:gd fmla="val 27027" name="adj"/>
            </a:avLst>
          </a:prstGeom>
          <a:solidFill>
            <a:srgbClr val="0C2344"/>
          </a:solidFill>
          <a:ln cap="flat" cmpd="sng" w="95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d31a57d7c2_0_0"/>
          <p:cNvSpPr/>
          <p:nvPr/>
        </p:nvSpPr>
        <p:spPr>
          <a:xfrm>
            <a:off x="9426415" y="4634404"/>
            <a:ext cx="2331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superposition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g3d31a57d7c2_0_0"/>
          <p:cNvSpPr/>
          <p:nvPr/>
        </p:nvSpPr>
        <p:spPr>
          <a:xfrm>
            <a:off x="9426415" y="5192188"/>
            <a:ext cx="2331600" cy="338400"/>
          </a:xfrm>
          <a:prstGeom prst="roundRect">
            <a:avLst>
              <a:gd fmla="val 27027" name="adj"/>
            </a:avLst>
          </a:prstGeom>
          <a:solidFill>
            <a:srgbClr val="0C2344"/>
          </a:solidFill>
          <a:ln cap="flat" cmpd="sng" w="95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d31a57d7c2_0_0"/>
          <p:cNvSpPr/>
          <p:nvPr/>
        </p:nvSpPr>
        <p:spPr>
          <a:xfrm>
            <a:off x="9426415" y="5201332"/>
            <a:ext cx="2331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activation patching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d31a57d7c2_0_0"/>
          <p:cNvSpPr/>
          <p:nvPr/>
        </p:nvSpPr>
        <p:spPr>
          <a:xfrm>
            <a:off x="9426415" y="5759116"/>
            <a:ext cx="2331600" cy="338400"/>
          </a:xfrm>
          <a:prstGeom prst="roundRect">
            <a:avLst>
              <a:gd fmla="val 27027" name="adj"/>
            </a:avLst>
          </a:prstGeom>
          <a:solidFill>
            <a:srgbClr val="0C2344"/>
          </a:solidFill>
          <a:ln cap="flat" cmpd="sng" w="95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d31a57d7c2_0_0"/>
          <p:cNvSpPr/>
          <p:nvPr/>
        </p:nvSpPr>
        <p:spPr>
          <a:xfrm>
            <a:off x="9426415" y="5768260"/>
            <a:ext cx="2331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IOI demo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8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2"/>
          <p:cNvCxnSpPr/>
          <p:nvPr/>
        </p:nvCxnSpPr>
        <p:spPr>
          <a:xfrm>
            <a:off x="566928" y="310896"/>
            <a:ext cx="11018520" cy="0"/>
          </a:xfrm>
          <a:prstGeom prst="straightConnector1">
            <a:avLst/>
          </a:prstGeom>
          <a:noFill/>
          <a:ln cap="flat" cmpd="sng" w="17775">
            <a:solidFill>
              <a:srgbClr val="31D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2"/>
          <p:cNvSpPr/>
          <p:nvPr/>
        </p:nvSpPr>
        <p:spPr>
          <a:xfrm>
            <a:off x="1546550" y="524638"/>
            <a:ext cx="105765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AI Is a Black Box — So What Counts as a Real Explanation?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192750" y="1040175"/>
            <a:ext cx="3319800" cy="4153800"/>
          </a:xfrm>
          <a:prstGeom prst="roundRect">
            <a:avLst>
              <a:gd fmla="val 2010" name="adj"/>
            </a:avLst>
          </a:prstGeom>
          <a:solidFill>
            <a:srgbClr val="0D2342"/>
          </a:solidFill>
          <a:ln cap="flat" cmpd="sng" w="1157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7378" rotWithShape="0" algn="bl" dir="2700000" dist="6951">
              <a:srgbClr val="000000">
                <a:alpha val="18039"/>
              </a:srgbClr>
            </a:outerShdw>
          </a:effectLst>
        </p:spPr>
        <p:txBody>
          <a:bodyPr anchorCtr="0" anchor="ctr" bIns="83400" lIns="83400" spcFirstLastPara="1" rIns="83400" wrap="square" tIns="83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7"/>
          </a:p>
        </p:txBody>
      </p:sp>
      <p:sp>
        <p:nvSpPr>
          <p:cNvPr id="37" name="Google Shape;37;p2"/>
          <p:cNvSpPr/>
          <p:nvPr/>
        </p:nvSpPr>
        <p:spPr>
          <a:xfrm>
            <a:off x="1409623" y="1265391"/>
            <a:ext cx="1501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24"/>
              <a:buFont typeface="Arial"/>
              <a:buNone/>
            </a:pPr>
            <a:r>
              <a:rPr b="1" i="0" lang="en-US" sz="1824" u="none" cap="none" strike="noStrike">
                <a:solidFill>
                  <a:srgbClr val="F5F9FF"/>
                </a:solidFill>
                <a:latin typeface="Merriweather"/>
                <a:ea typeface="Merriweather"/>
                <a:cs typeface="Merriweather"/>
                <a:sym typeface="Merriweather"/>
              </a:rPr>
              <a:t>Surface explanation</a:t>
            </a:r>
            <a:endParaRPr i="0" sz="1824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818665" y="4128194"/>
            <a:ext cx="1892700" cy="520200"/>
          </a:xfrm>
          <a:prstGeom prst="roundRect">
            <a:avLst>
              <a:gd fmla="val 30303" name="adj"/>
            </a:avLst>
          </a:prstGeom>
          <a:solidFill>
            <a:srgbClr val="FF6B6B"/>
          </a:solidFill>
          <a:ln cap="flat" cmpd="sng" w="16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675" lIns="157675" spcFirstLastPara="1" rIns="157675" wrap="square" tIns="15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46"/>
          </a:p>
        </p:txBody>
      </p:sp>
      <p:sp>
        <p:nvSpPr>
          <p:cNvPr id="39" name="Google Shape;39;p2"/>
          <p:cNvSpPr/>
          <p:nvPr/>
        </p:nvSpPr>
        <p:spPr>
          <a:xfrm>
            <a:off x="1818665" y="4128225"/>
            <a:ext cx="18927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638"/>
              <a:buFont typeface="Arial"/>
              <a:buNone/>
            </a:pPr>
            <a:r>
              <a:rPr b="1" i="0" lang="en-US" sz="1638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easy to say</a:t>
            </a:r>
            <a:endParaRPr b="0" i="0" sz="163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409623" y="1707481"/>
            <a:ext cx="2710800" cy="19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-139022" lvl="0" marL="139021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460"/>
              <a:buFont typeface="Courier New"/>
              <a:buChar char="•"/>
            </a:pPr>
            <a:r>
              <a:rPr i="0" lang="en-US" sz="1459" u="none" cap="none" strike="noStrike">
                <a:solidFill>
                  <a:srgbClr val="F5F9FF"/>
                </a:solidFill>
                <a:latin typeface="Courier New"/>
                <a:ea typeface="Courier New"/>
                <a:cs typeface="Courier New"/>
                <a:sym typeface="Courier New"/>
              </a:rPr>
              <a:t>Looks at the output only</a:t>
            </a:r>
            <a:endParaRPr i="0" sz="1459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39022" lvl="0" marL="139021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460"/>
              <a:buFont typeface="Courier New"/>
              <a:buChar char="•"/>
            </a:pPr>
            <a:r>
              <a:rPr i="0" lang="en-US" sz="1459" u="none" cap="none" strike="noStrike">
                <a:solidFill>
                  <a:srgbClr val="F5F9FF"/>
                </a:solidFill>
                <a:latin typeface="Courier New"/>
                <a:ea typeface="Courier New"/>
                <a:cs typeface="Courier New"/>
                <a:sym typeface="Courier New"/>
              </a:rPr>
              <a:t>May sound convincing even if it is wrong</a:t>
            </a:r>
            <a:endParaRPr i="0" sz="1459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39022" lvl="0" marL="139021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460"/>
              <a:buFont typeface="Courier New"/>
              <a:buChar char="•"/>
            </a:pPr>
            <a:r>
              <a:rPr i="0" lang="en-US" sz="1459" u="none" cap="none" strike="noStrike">
                <a:solidFill>
                  <a:srgbClr val="F5F9FF"/>
                </a:solidFill>
                <a:latin typeface="Courier New"/>
                <a:ea typeface="Courier New"/>
                <a:cs typeface="Courier New"/>
                <a:sym typeface="Courier New"/>
              </a:rPr>
              <a:t>A model can describe a reason without proving that was the real internal process</a:t>
            </a:r>
            <a:endParaRPr i="0" sz="1459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520375" y="938725"/>
            <a:ext cx="3446700" cy="4312200"/>
          </a:xfrm>
          <a:prstGeom prst="roundRect">
            <a:avLst>
              <a:gd fmla="val 2010" name="adj"/>
            </a:avLst>
          </a:prstGeom>
          <a:solidFill>
            <a:srgbClr val="0E284B"/>
          </a:solidFill>
          <a:ln cap="flat" cmpd="sng" w="1205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8040" rotWithShape="0" algn="bl" dir="2700000" dist="7216">
              <a:srgbClr val="000000">
                <a:alpha val="18039"/>
              </a:srgbClr>
            </a:outerShdw>
          </a:effectLst>
        </p:spPr>
        <p:txBody>
          <a:bodyPr anchorCtr="0" anchor="ctr" bIns="86600" lIns="86600" spcFirstLastPara="1" rIns="86600" wrap="square" tIns="86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5"/>
          </a:p>
        </p:txBody>
      </p:sp>
      <p:sp>
        <p:nvSpPr>
          <p:cNvPr id="42" name="Google Shape;42;p2"/>
          <p:cNvSpPr/>
          <p:nvPr/>
        </p:nvSpPr>
        <p:spPr>
          <a:xfrm>
            <a:off x="8527729" y="1346819"/>
            <a:ext cx="23379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94"/>
              <a:buFont typeface="Arial"/>
              <a:buNone/>
            </a:pPr>
            <a:r>
              <a:rPr b="1" i="0" lang="en-US" sz="1893" u="none" cap="none" strike="noStrike">
                <a:solidFill>
                  <a:srgbClr val="F5F9FF"/>
                </a:solidFill>
                <a:latin typeface="Merriweather"/>
                <a:ea typeface="Merriweather"/>
                <a:cs typeface="Merriweather"/>
                <a:sym typeface="Merriweather"/>
              </a:rPr>
              <a:t>Mechanistic explanation</a:t>
            </a:r>
            <a:endParaRPr i="0" sz="1893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449072" y="4395442"/>
            <a:ext cx="1871100" cy="493800"/>
          </a:xfrm>
          <a:prstGeom prst="roundRect">
            <a:avLst>
              <a:gd fmla="val 30303" name="adj"/>
            </a:avLst>
          </a:prstGeom>
          <a:solidFill>
            <a:srgbClr val="2FE0A1"/>
          </a:solidFill>
          <a:ln cap="flat" cmpd="sng" w="15575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9650" lIns="149650" spcFirstLastPara="1" rIns="149650" wrap="square" tIns="149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91"/>
          </a:p>
        </p:txBody>
      </p:sp>
      <p:sp>
        <p:nvSpPr>
          <p:cNvPr id="44" name="Google Shape;44;p2"/>
          <p:cNvSpPr/>
          <p:nvPr/>
        </p:nvSpPr>
        <p:spPr>
          <a:xfrm>
            <a:off x="8455230" y="4395447"/>
            <a:ext cx="1858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506"/>
              <a:buFont typeface="Arial"/>
              <a:buNone/>
            </a:pPr>
            <a:r>
              <a:rPr b="1" i="0" lang="en-US" sz="1505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harder, stronger</a:t>
            </a:r>
            <a:endParaRPr b="0" i="0" sz="1505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800323" y="1766793"/>
            <a:ext cx="2771100" cy="19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5" lIns="725" spcFirstLastPara="1" rIns="725" wrap="square" tIns="725">
            <a:noAutofit/>
          </a:bodyPr>
          <a:lstStyle/>
          <a:p>
            <a:pPr indent="-144321" lvl="0" marL="144321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15"/>
              <a:buFont typeface="Comic Sans MS"/>
              <a:buChar char="•"/>
            </a:pPr>
            <a:r>
              <a:rPr i="0" lang="en-US" sz="1515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Proposes what internal parts are doing the work</a:t>
            </a:r>
            <a:endParaRPr i="0" sz="1515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44321" lvl="0" marL="144321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15"/>
              <a:buFont typeface="Comic Sans MS"/>
              <a:buChar char="•"/>
            </a:pPr>
            <a:r>
              <a:rPr i="0" lang="en-US" sz="1515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Tests the claim by intervening inside the model</a:t>
            </a:r>
            <a:endParaRPr i="0" sz="1515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44321" lvl="0" marL="144321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15"/>
              <a:buFont typeface="Comic Sans MS"/>
              <a:buChar char="•"/>
            </a:pPr>
            <a:r>
              <a:rPr i="0" lang="en-US" sz="1515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Checks whether behavior changes in the predicted way</a:t>
            </a:r>
            <a:endParaRPr i="0" sz="1515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258813" y="5637436"/>
            <a:ext cx="1892700" cy="973200"/>
          </a:xfrm>
          <a:prstGeom prst="roundRect">
            <a:avLst>
              <a:gd fmla="val 8889" name="adj"/>
            </a:avLst>
          </a:prstGeom>
          <a:solidFill>
            <a:srgbClr val="0A2344"/>
          </a:solidFill>
          <a:ln cap="flat" cmpd="sng" w="150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125" lIns="108125" spcFirstLastPara="1" rIns="108125" wrap="square" tIns="10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1345331" y="5745585"/>
            <a:ext cx="345900" cy="259800"/>
          </a:xfrm>
          <a:prstGeom prst="roundRect">
            <a:avLst>
              <a:gd fmla="val 41667" name="adj"/>
            </a:avLst>
          </a:prstGeom>
          <a:solidFill>
            <a:srgbClr val="31D0FF"/>
          </a:solidFill>
          <a:ln cap="flat" cmpd="sng" w="11275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125" lIns="108125" spcFirstLastPara="1" rIns="108125" wrap="square" tIns="10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1345331" y="5756399"/>
            <a:ext cx="3459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83"/>
              <a:buFont typeface="Arial"/>
              <a:buNone/>
            </a:pPr>
            <a:r>
              <a:rPr b="1" i="0" lang="en-US" sz="1182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8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777925" y="5756399"/>
            <a:ext cx="1135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38"/>
              <a:buFont typeface="Arial"/>
              <a:buNone/>
            </a:pPr>
            <a:r>
              <a:rPr b="1" i="0" lang="en-US" sz="1437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Hypothesize</a:t>
            </a:r>
            <a:endParaRPr b="0" i="0" sz="14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345331" y="6059215"/>
            <a:ext cx="1687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218"/>
              <a:buFont typeface="Arial"/>
              <a:buNone/>
            </a:pPr>
            <a:r>
              <a:rPr b="0" i="0" lang="en-US" sz="1218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what internal process might exist</a:t>
            </a:r>
            <a:endParaRPr b="0" i="0" sz="12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3151412" y="6102475"/>
            <a:ext cx="486900" cy="0"/>
          </a:xfrm>
          <a:prstGeom prst="straightConnector1">
            <a:avLst/>
          </a:prstGeom>
          <a:noFill/>
          <a:ln cap="flat" cmpd="sng" w="16500">
            <a:solidFill>
              <a:srgbClr val="31D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" name="Google Shape;52;p2"/>
          <p:cNvSpPr/>
          <p:nvPr/>
        </p:nvSpPr>
        <p:spPr>
          <a:xfrm>
            <a:off x="3692154" y="5637436"/>
            <a:ext cx="1892700" cy="973200"/>
          </a:xfrm>
          <a:prstGeom prst="roundRect">
            <a:avLst>
              <a:gd fmla="val 8889" name="adj"/>
            </a:avLst>
          </a:prstGeom>
          <a:solidFill>
            <a:srgbClr val="0A2344"/>
          </a:solidFill>
          <a:ln cap="flat" cmpd="sng" w="150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125" lIns="108125" spcFirstLastPara="1" rIns="108125" wrap="square" tIns="10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778673" y="5745585"/>
            <a:ext cx="345900" cy="259800"/>
          </a:xfrm>
          <a:prstGeom prst="roundRect">
            <a:avLst>
              <a:gd fmla="val 41667" name="adj"/>
            </a:avLst>
          </a:prstGeom>
          <a:solidFill>
            <a:srgbClr val="31D0FF"/>
          </a:solidFill>
          <a:ln cap="flat" cmpd="sng" w="11275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125" lIns="108125" spcFirstLastPara="1" rIns="108125" wrap="square" tIns="10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778673" y="5756399"/>
            <a:ext cx="3459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83"/>
              <a:buFont typeface="Arial"/>
              <a:buNone/>
            </a:pPr>
            <a:r>
              <a:rPr b="1" i="0" lang="en-US" sz="1182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8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211267" y="5756399"/>
            <a:ext cx="1135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38"/>
              <a:buFont typeface="Arial"/>
              <a:buNone/>
            </a:pPr>
            <a:r>
              <a:rPr b="1" i="0" lang="en-US" sz="1537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Localize</a:t>
            </a:r>
            <a:endParaRPr b="0" i="0" sz="15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778673" y="6059215"/>
            <a:ext cx="1687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218"/>
              <a:buFont typeface="Arial"/>
              <a:buNone/>
            </a:pPr>
            <a:r>
              <a:rPr b="0" i="0" lang="en-US" sz="1218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where it seems to live</a:t>
            </a:r>
            <a:endParaRPr b="0" i="0" sz="12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5584754" y="6102475"/>
            <a:ext cx="486900" cy="0"/>
          </a:xfrm>
          <a:prstGeom prst="straightConnector1">
            <a:avLst/>
          </a:prstGeom>
          <a:noFill/>
          <a:ln cap="flat" cmpd="sng" w="16500">
            <a:solidFill>
              <a:srgbClr val="31D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" name="Google Shape;58;p2"/>
          <p:cNvSpPr/>
          <p:nvPr/>
        </p:nvSpPr>
        <p:spPr>
          <a:xfrm>
            <a:off x="6125496" y="5637436"/>
            <a:ext cx="1892700" cy="973200"/>
          </a:xfrm>
          <a:prstGeom prst="roundRect">
            <a:avLst>
              <a:gd fmla="val 8889" name="adj"/>
            </a:avLst>
          </a:prstGeom>
          <a:solidFill>
            <a:srgbClr val="0A2344"/>
          </a:solidFill>
          <a:ln cap="flat" cmpd="sng" w="150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125" lIns="108125" spcFirstLastPara="1" rIns="108125" wrap="square" tIns="10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212015" y="5745585"/>
            <a:ext cx="345900" cy="259800"/>
          </a:xfrm>
          <a:prstGeom prst="roundRect">
            <a:avLst>
              <a:gd fmla="val 41667" name="adj"/>
            </a:avLst>
          </a:prstGeom>
          <a:solidFill>
            <a:srgbClr val="31D0FF"/>
          </a:solidFill>
          <a:ln cap="flat" cmpd="sng" w="11275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125" lIns="108125" spcFirstLastPara="1" rIns="108125" wrap="square" tIns="10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212015" y="5756399"/>
            <a:ext cx="3459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83"/>
              <a:buFont typeface="Arial"/>
              <a:buNone/>
            </a:pPr>
            <a:r>
              <a:rPr b="1" i="0" lang="en-US" sz="1182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8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644609" y="5756399"/>
            <a:ext cx="1135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38"/>
              <a:buFont typeface="Arial"/>
              <a:buNone/>
            </a:pPr>
            <a:r>
              <a:rPr b="1" i="0" lang="en-US" sz="1537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Intervene</a:t>
            </a:r>
            <a:endParaRPr b="0" i="0" sz="15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212015" y="6059215"/>
            <a:ext cx="1687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218"/>
              <a:buFont typeface="Arial"/>
              <a:buNone/>
            </a:pPr>
            <a:r>
              <a:rPr b="0" i="0" lang="en-US" sz="1218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patch, ablate, or steer it</a:t>
            </a:r>
            <a:endParaRPr b="0" i="0" sz="12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2"/>
          <p:cNvCxnSpPr/>
          <p:nvPr/>
        </p:nvCxnSpPr>
        <p:spPr>
          <a:xfrm>
            <a:off x="8018096" y="6102475"/>
            <a:ext cx="486900" cy="0"/>
          </a:xfrm>
          <a:prstGeom prst="straightConnector1">
            <a:avLst/>
          </a:prstGeom>
          <a:noFill/>
          <a:ln cap="flat" cmpd="sng" w="16500">
            <a:solidFill>
              <a:srgbClr val="31D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" name="Google Shape;64;p2"/>
          <p:cNvSpPr/>
          <p:nvPr/>
        </p:nvSpPr>
        <p:spPr>
          <a:xfrm>
            <a:off x="8558838" y="5637436"/>
            <a:ext cx="1892700" cy="973200"/>
          </a:xfrm>
          <a:prstGeom prst="roundRect">
            <a:avLst>
              <a:gd fmla="val 8889" name="adj"/>
            </a:avLst>
          </a:prstGeom>
          <a:solidFill>
            <a:srgbClr val="0A2344"/>
          </a:solidFill>
          <a:ln cap="flat" cmpd="sng" w="150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125" lIns="108125" spcFirstLastPara="1" rIns="108125" wrap="square" tIns="10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8645357" y="5745585"/>
            <a:ext cx="345900" cy="259800"/>
          </a:xfrm>
          <a:prstGeom prst="roundRect">
            <a:avLst>
              <a:gd fmla="val 41667" name="adj"/>
            </a:avLst>
          </a:prstGeom>
          <a:solidFill>
            <a:srgbClr val="31D0FF"/>
          </a:solidFill>
          <a:ln cap="flat" cmpd="sng" w="11275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125" lIns="108125" spcFirstLastPara="1" rIns="108125" wrap="square" tIns="108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8645357" y="5756399"/>
            <a:ext cx="3459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83"/>
              <a:buFont typeface="Arial"/>
              <a:buNone/>
            </a:pPr>
            <a:r>
              <a:rPr b="1" i="0" lang="en-US" sz="1182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8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077951" y="5756399"/>
            <a:ext cx="11355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38"/>
              <a:buFont typeface="Arial"/>
              <a:buNone/>
            </a:pPr>
            <a:r>
              <a:rPr b="1" i="0" lang="en-US" sz="1537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endParaRPr b="0" i="0" sz="153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645357" y="6059215"/>
            <a:ext cx="1687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" lIns="150" spcFirstLastPara="1" rIns="150" wrap="square" tIns="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218"/>
              <a:buFont typeface="Arial"/>
              <a:buNone/>
            </a:pPr>
            <a:r>
              <a:rPr b="0" i="0" lang="en-US" sz="1218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does behavior recover or change?</a:t>
            </a:r>
            <a:endParaRPr b="0" i="0" sz="121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8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3"/>
          <p:cNvCxnSpPr/>
          <p:nvPr/>
        </p:nvCxnSpPr>
        <p:spPr>
          <a:xfrm>
            <a:off x="566928" y="310896"/>
            <a:ext cx="11018520" cy="0"/>
          </a:xfrm>
          <a:prstGeom prst="straightConnector1">
            <a:avLst/>
          </a:prstGeom>
          <a:noFill/>
          <a:ln cap="flat" cmpd="sng" w="17775">
            <a:solidFill>
              <a:srgbClr val="31D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3"/>
          <p:cNvSpPr/>
          <p:nvPr/>
        </p:nvSpPr>
        <p:spPr>
          <a:xfrm>
            <a:off x="566924" y="457200"/>
            <a:ext cx="10634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Polysemanticity: Why “One Neuron = One Idea” Usually Fails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13232" y="1115568"/>
            <a:ext cx="4160520" cy="4480560"/>
          </a:xfrm>
          <a:prstGeom prst="roundRect">
            <a:avLst>
              <a:gd fmla="val 1758" name="adj"/>
            </a:avLst>
          </a:prstGeom>
          <a:solidFill>
            <a:srgbClr val="0D2342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960128" y="1234507"/>
            <a:ext cx="3137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F9FF"/>
                </a:solidFill>
              </a:rPr>
              <a:t>Polysemanticity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60120" y="178308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One internal unit can participate in several different human concepts at once.</a:t>
            </a:r>
            <a:endParaRPr b="0" i="0" sz="1700" u="none" cap="none" strike="noStrike">
              <a:solidFill>
                <a:srgbClr val="FF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60120" y="2468880"/>
            <a:ext cx="361188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A neuron may fire for different topics in different contexts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That means reading neurons one by one is often misleading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Researchers moved toward features partly because raw neurons are too mixed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60120" y="4864608"/>
            <a:ext cx="2514600" cy="329184"/>
          </a:xfrm>
          <a:prstGeom prst="roundRect">
            <a:avLst>
              <a:gd fmla="val 27778" name="adj"/>
            </a:avLst>
          </a:prstGeom>
          <a:solidFill>
            <a:srgbClr val="FFC857"/>
          </a:solidFill>
          <a:ln cap="flat" cmpd="sng" w="9525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960120" y="487375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Think: one tool used for many jobs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166360" y="1115568"/>
            <a:ext cx="5504688" cy="4480560"/>
          </a:xfrm>
          <a:prstGeom prst="roundRect">
            <a:avLst>
              <a:gd fmla="val 1633" name="adj"/>
            </a:avLst>
          </a:prstGeom>
          <a:solidFill>
            <a:srgbClr val="0A1F3B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5440680" y="137160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A stylized mixed neuron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360920" y="2743200"/>
            <a:ext cx="1170432" cy="1170432"/>
          </a:xfrm>
          <a:prstGeom prst="ellipse">
            <a:avLst/>
          </a:prstGeom>
          <a:solidFill>
            <a:srgbClr val="123B67"/>
          </a:solidFill>
          <a:ln cap="flat" cmpd="sng" w="20300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461504" y="3182112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Neuron 173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577840" y="1874520"/>
            <a:ext cx="1371600" cy="384048"/>
          </a:xfrm>
          <a:prstGeom prst="roundRect">
            <a:avLst>
              <a:gd fmla="val 23810" name="adj"/>
            </a:avLst>
          </a:prstGeom>
          <a:solidFill>
            <a:srgbClr val="2F7EEA"/>
          </a:solidFill>
          <a:ln cap="flat" cmpd="sng" w="9525">
            <a:solidFill>
              <a:srgbClr val="2F7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5577840" y="188366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8C42"/>
                </a:solidFill>
                <a:latin typeface="Arial"/>
                <a:ea typeface="Arial"/>
                <a:cs typeface="Arial"/>
                <a:sym typeface="Arial"/>
              </a:rPr>
              <a:t>city names</a:t>
            </a:r>
            <a:endParaRPr b="0" i="0" sz="1100" u="none" cap="none" strike="noStrike">
              <a:solidFill>
                <a:srgbClr val="FF8C4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3"/>
          <p:cNvCxnSpPr/>
          <p:nvPr/>
        </p:nvCxnSpPr>
        <p:spPr>
          <a:xfrm>
            <a:off x="6263640" y="2066544"/>
            <a:ext cx="1682496" cy="1261872"/>
          </a:xfrm>
          <a:prstGeom prst="straightConnector1">
            <a:avLst/>
          </a:prstGeom>
          <a:noFill/>
          <a:ln cap="flat" cmpd="sng" w="13950">
            <a:solidFill>
              <a:srgbClr val="9FB6D4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3"/>
          <p:cNvSpPr/>
          <p:nvPr/>
        </p:nvSpPr>
        <p:spPr>
          <a:xfrm>
            <a:off x="8887968" y="1920240"/>
            <a:ext cx="1417320" cy="384048"/>
          </a:xfrm>
          <a:prstGeom prst="roundRect">
            <a:avLst>
              <a:gd fmla="val 23810" name="adj"/>
            </a:avLst>
          </a:prstGeom>
          <a:solidFill>
            <a:srgbClr val="2FE0A1"/>
          </a:solidFill>
          <a:ln cap="flat" cmpd="sng" w="9525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887968" y="192938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bridges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3"/>
          <p:cNvCxnSpPr/>
          <p:nvPr/>
        </p:nvCxnSpPr>
        <p:spPr>
          <a:xfrm flipH="1">
            <a:off x="7946136" y="2112264"/>
            <a:ext cx="1650492" cy="1216152"/>
          </a:xfrm>
          <a:prstGeom prst="straightConnector1">
            <a:avLst/>
          </a:prstGeom>
          <a:noFill/>
          <a:ln cap="flat" cmpd="sng" w="13950">
            <a:solidFill>
              <a:srgbClr val="9FB6D4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3"/>
          <p:cNvSpPr/>
          <p:nvPr/>
        </p:nvSpPr>
        <p:spPr>
          <a:xfrm>
            <a:off x="5486400" y="4325112"/>
            <a:ext cx="1600200" cy="384048"/>
          </a:xfrm>
          <a:prstGeom prst="roundRect">
            <a:avLst>
              <a:gd fmla="val 23810" name="adj"/>
            </a:avLst>
          </a:prstGeom>
          <a:solidFill>
            <a:srgbClr val="FFC857"/>
          </a:solidFill>
          <a:ln cap="flat" cmpd="sng" w="9525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486400" y="4334256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quoted speech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3"/>
          <p:cNvCxnSpPr/>
          <p:nvPr/>
        </p:nvCxnSpPr>
        <p:spPr>
          <a:xfrm flipH="1" rot="10800000">
            <a:off x="6286500" y="3328416"/>
            <a:ext cx="1659636" cy="1188720"/>
          </a:xfrm>
          <a:prstGeom prst="straightConnector1">
            <a:avLst/>
          </a:prstGeom>
          <a:noFill/>
          <a:ln cap="flat" cmpd="sng" w="13950">
            <a:solidFill>
              <a:srgbClr val="9FB6D4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3"/>
          <p:cNvSpPr/>
          <p:nvPr/>
        </p:nvSpPr>
        <p:spPr>
          <a:xfrm>
            <a:off x="8778240" y="4297680"/>
            <a:ext cx="1417320" cy="384048"/>
          </a:xfrm>
          <a:prstGeom prst="roundRect">
            <a:avLst>
              <a:gd fmla="val 23810" name="adj"/>
            </a:avLst>
          </a:prstGeom>
          <a:solidFill>
            <a:srgbClr val="FF8C42"/>
          </a:solidFill>
          <a:ln cap="flat" cmpd="sng" w="9525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8778240" y="430682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praise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3"/>
          <p:cNvCxnSpPr/>
          <p:nvPr/>
        </p:nvCxnSpPr>
        <p:spPr>
          <a:xfrm rot="10800000">
            <a:off x="7946136" y="3328416"/>
            <a:ext cx="1540764" cy="1161288"/>
          </a:xfrm>
          <a:prstGeom prst="straightConnector1">
            <a:avLst/>
          </a:prstGeom>
          <a:noFill/>
          <a:ln cap="flat" cmpd="sng" w="13950">
            <a:solidFill>
              <a:srgbClr val="9FB6D4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3"/>
          <p:cNvSpPr/>
          <p:nvPr/>
        </p:nvSpPr>
        <p:spPr>
          <a:xfrm>
            <a:off x="7351776" y="1673352"/>
            <a:ext cx="1234440" cy="384048"/>
          </a:xfrm>
          <a:prstGeom prst="roundRect">
            <a:avLst>
              <a:gd fmla="val 23810" name="adj"/>
            </a:avLst>
          </a:prstGeom>
          <a:solidFill>
            <a:srgbClr val="7A68FF"/>
          </a:solidFill>
          <a:ln cap="flat" cmpd="sng" w="9525">
            <a:solidFill>
              <a:srgbClr val="7A6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351776" y="1682496"/>
            <a:ext cx="1234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3"/>
          <p:cNvCxnSpPr/>
          <p:nvPr/>
        </p:nvCxnSpPr>
        <p:spPr>
          <a:xfrm flipH="1">
            <a:off x="7946136" y="1865376"/>
            <a:ext cx="22860" cy="1463040"/>
          </a:xfrm>
          <a:prstGeom prst="straightConnector1">
            <a:avLst/>
          </a:prstGeom>
          <a:noFill/>
          <a:ln cap="flat" cmpd="sng" w="13950">
            <a:solidFill>
              <a:srgbClr val="9FB6D4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3"/>
          <p:cNvSpPr/>
          <p:nvPr/>
        </p:nvSpPr>
        <p:spPr>
          <a:xfrm>
            <a:off x="5669280" y="4892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Same unit, several partial roles.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That is useful for the model, but annoying for us.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4"/>
          <p:cNvCxnSpPr/>
          <p:nvPr/>
        </p:nvCxnSpPr>
        <p:spPr>
          <a:xfrm>
            <a:off x="566928" y="310896"/>
            <a:ext cx="11018520" cy="0"/>
          </a:xfrm>
          <a:prstGeom prst="straightConnector1">
            <a:avLst/>
          </a:prstGeom>
          <a:noFill/>
          <a:ln cap="flat" cmpd="sng" w="17775">
            <a:solidFill>
              <a:srgbClr val="31D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566928" y="42976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Superposition: Why Concepts Overlap Inside the Model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13232" y="1133856"/>
            <a:ext cx="4133088" cy="4498848"/>
          </a:xfrm>
          <a:prstGeom prst="roundRect">
            <a:avLst>
              <a:gd fmla="val 1770" name="adj"/>
            </a:avLst>
          </a:prstGeom>
          <a:solidFill>
            <a:srgbClr val="0D2342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960129" y="1179725"/>
            <a:ext cx="316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Superposition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60120" y="1737360"/>
            <a:ext cx="3520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The model may pack more useful sparse features into fewer directions, which creates overlap and interference.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960120" y="2606040"/>
            <a:ext cx="358444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Imagine 3 features trying to share only 2 clean axes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If only a few features are active at once, overlap can still work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That efficiency makes single coordinates harder to interpret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60120" y="4892040"/>
            <a:ext cx="2697480" cy="329184"/>
          </a:xfrm>
          <a:prstGeom prst="roundRect">
            <a:avLst>
              <a:gd fmla="val 27778" name="adj"/>
            </a:avLst>
          </a:prstGeom>
          <a:solidFill>
            <a:srgbClr val="2FE0A1"/>
          </a:solidFill>
          <a:ln cap="flat" cmpd="sng" w="9525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960120" y="4901184"/>
            <a:ext cx="2697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10"/>
              <a:buFont typeface="Arial"/>
              <a:buNone/>
            </a:pPr>
            <a:r>
              <a:rPr b="1" i="0" lang="en-US" sz="101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Compressed + sparse = overlap is tolerated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705789" y="960131"/>
            <a:ext cx="5577900" cy="4498800"/>
          </a:xfrm>
          <a:prstGeom prst="roundRect">
            <a:avLst>
              <a:gd fmla="val 1626" name="adj"/>
            </a:avLst>
          </a:prstGeom>
          <a:solidFill>
            <a:srgbClr val="0A1F3B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6957591" y="960114"/>
            <a:ext cx="38232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A simple picture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>
            <a:off x="6400800" y="4754880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9FB6D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8" name="Google Shape;118;p4"/>
          <p:cNvCxnSpPr/>
          <p:nvPr/>
        </p:nvCxnSpPr>
        <p:spPr>
          <a:xfrm rot="10800000">
            <a:off x="6537960" y="2286000"/>
            <a:ext cx="0" cy="2606040"/>
          </a:xfrm>
          <a:prstGeom prst="straightConnector1">
            <a:avLst/>
          </a:prstGeom>
          <a:noFill/>
          <a:ln cap="flat" cmpd="sng" w="15225">
            <a:solidFill>
              <a:srgbClr val="9FB6D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" name="Google Shape;119;p4"/>
          <p:cNvSpPr/>
          <p:nvPr/>
        </p:nvSpPr>
        <p:spPr>
          <a:xfrm>
            <a:off x="9326880" y="4773168"/>
            <a:ext cx="8229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direction 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 rot="-5400000">
            <a:off x="5669280" y="2148840"/>
            <a:ext cx="7315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direction 2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 flipH="1" rot="10800000">
            <a:off x="6537960" y="2926080"/>
            <a:ext cx="1097280" cy="1828800"/>
          </a:xfrm>
          <a:prstGeom prst="straightConnector1">
            <a:avLst/>
          </a:prstGeom>
          <a:noFill/>
          <a:ln cap="flat" cmpd="sng" w="29200">
            <a:solidFill>
              <a:srgbClr val="31D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" name="Google Shape;122;p4"/>
          <p:cNvSpPr/>
          <p:nvPr/>
        </p:nvSpPr>
        <p:spPr>
          <a:xfrm>
            <a:off x="7498080" y="2743200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D0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1D0FF"/>
                </a:solidFill>
                <a:latin typeface="Arial"/>
                <a:ea typeface="Arial"/>
                <a:cs typeface="Arial"/>
                <a:sym typeface="Arial"/>
              </a:rPr>
              <a:t>feature A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 flipH="1" rot="10800000">
            <a:off x="6537960" y="3840480"/>
            <a:ext cx="1828800" cy="914400"/>
          </a:xfrm>
          <a:prstGeom prst="straightConnector1">
            <a:avLst/>
          </a:prstGeom>
          <a:noFill/>
          <a:ln cap="flat" cmpd="sng" w="29200">
            <a:solidFill>
              <a:srgbClr val="FFC85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p4"/>
          <p:cNvSpPr/>
          <p:nvPr/>
        </p:nvSpPr>
        <p:spPr>
          <a:xfrm>
            <a:off x="8229600" y="3657600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85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C857"/>
                </a:solidFill>
                <a:latin typeface="Arial"/>
                <a:ea typeface="Arial"/>
                <a:cs typeface="Arial"/>
                <a:sym typeface="Arial"/>
              </a:rPr>
              <a:t>feature B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 flipH="1" rot="10800000">
            <a:off x="6537960" y="3520440"/>
            <a:ext cx="640080" cy="1234440"/>
          </a:xfrm>
          <a:prstGeom prst="straightConnector1">
            <a:avLst/>
          </a:prstGeom>
          <a:noFill/>
          <a:ln cap="flat" cmpd="sng" w="29200">
            <a:solidFill>
              <a:srgbClr val="FF8C4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" name="Google Shape;126;p4"/>
          <p:cNvSpPr/>
          <p:nvPr/>
        </p:nvSpPr>
        <p:spPr>
          <a:xfrm>
            <a:off x="7040880" y="3337560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8C42"/>
                </a:solidFill>
                <a:latin typeface="Arial"/>
                <a:ea typeface="Arial"/>
                <a:cs typeface="Arial"/>
                <a:sym typeface="Arial"/>
              </a:rPr>
              <a:t>feature C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66928" y="6446520"/>
            <a:ext cx="10716768" cy="256032"/>
          </a:xfrm>
          <a:prstGeom prst="roundRect">
            <a:avLst>
              <a:gd fmla="val 21429" name="adj"/>
            </a:avLst>
          </a:prstGeom>
          <a:solidFill>
            <a:srgbClr val="0A2344"/>
          </a:solidFill>
          <a:ln cap="flat" cmpd="sng" w="95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85800" y="6483096"/>
            <a:ext cx="10332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D0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1D0FF"/>
                </a:solidFill>
                <a:latin typeface="Arial"/>
                <a:ea typeface="Arial"/>
                <a:cs typeface="Arial"/>
                <a:sym typeface="Arial"/>
              </a:rPr>
              <a:t>Takeaway: </a:t>
            </a:r>
            <a:r>
              <a:rPr b="0" i="0" lang="en-US" sz="8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Superposition is one reason a model can use compact internal space while still representing many concepts.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8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5"/>
          <p:cNvCxnSpPr/>
          <p:nvPr/>
        </p:nvCxnSpPr>
        <p:spPr>
          <a:xfrm>
            <a:off x="566928" y="310896"/>
            <a:ext cx="11018520" cy="0"/>
          </a:xfrm>
          <a:prstGeom prst="straightConnector1">
            <a:avLst/>
          </a:prstGeom>
          <a:noFill/>
          <a:ln cap="flat" cmpd="sng" w="17775">
            <a:solidFill>
              <a:srgbClr val="31D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5"/>
          <p:cNvSpPr/>
          <p:nvPr/>
        </p:nvSpPr>
        <p:spPr>
          <a:xfrm>
            <a:off x="566928" y="42976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Activation Patching: the Core Causal “Swap Test”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77240" y="1417320"/>
            <a:ext cx="3337560" cy="3566160"/>
          </a:xfrm>
          <a:prstGeom prst="roundRect">
            <a:avLst>
              <a:gd fmla="val 2192" name="adj"/>
            </a:avLst>
          </a:prstGeom>
          <a:solidFill>
            <a:srgbClr val="0A1F3B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416552" y="1417320"/>
            <a:ext cx="3337560" cy="3566160"/>
          </a:xfrm>
          <a:prstGeom prst="roundRect">
            <a:avLst>
              <a:gd fmla="val 2192" name="adj"/>
            </a:avLst>
          </a:prstGeom>
          <a:solidFill>
            <a:srgbClr val="0E284B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8055864" y="1417320"/>
            <a:ext cx="3337560" cy="3566160"/>
          </a:xfrm>
          <a:prstGeom prst="roundRect">
            <a:avLst>
              <a:gd fmla="val 2192" name="adj"/>
            </a:avLst>
          </a:prstGeom>
          <a:solidFill>
            <a:srgbClr val="0A1F3B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1005840" y="170992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1. Clean and corrupted runs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645152" y="170992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2. Patch one internal state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284464" y="1709928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3. Measure recovery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024128" y="2176272"/>
            <a:ext cx="1005840" cy="292608"/>
          </a:xfrm>
          <a:prstGeom prst="roundRect">
            <a:avLst>
              <a:gd fmla="val 31250" name="adj"/>
            </a:avLst>
          </a:prstGeom>
          <a:solidFill>
            <a:srgbClr val="2FE0A1"/>
          </a:solidFill>
          <a:ln cap="flat" cmpd="sng" w="9525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1024128" y="2185416"/>
            <a:ext cx="1005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clean prompt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24128" y="2542032"/>
            <a:ext cx="2697480" cy="594360"/>
          </a:xfrm>
          <a:prstGeom prst="roundRect">
            <a:avLst>
              <a:gd fmla="val 12308" name="adj"/>
            </a:avLst>
          </a:prstGeom>
          <a:solidFill>
            <a:srgbClr val="132B4A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170432" y="2734056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... Mary gave a bottle of milk to __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024128" y="3310128"/>
            <a:ext cx="1225296" cy="292608"/>
          </a:xfrm>
          <a:prstGeom prst="roundRect">
            <a:avLst>
              <a:gd fmla="val 31250" name="adj"/>
            </a:avLst>
          </a:prstGeom>
          <a:solidFill>
            <a:srgbClr val="FF6B6B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1024128" y="3319272"/>
            <a:ext cx="1225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corrupted prompt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1024128" y="3675888"/>
            <a:ext cx="2697480" cy="594360"/>
          </a:xfrm>
          <a:prstGeom prst="roundRect">
            <a:avLst>
              <a:gd fmla="val 12308" name="adj"/>
            </a:avLst>
          </a:prstGeom>
          <a:solidFill>
            <a:srgbClr val="132B4A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170432" y="3867912"/>
            <a:ext cx="2331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270"/>
              <a:buFont typeface="Arial"/>
              <a:buNone/>
            </a:pPr>
            <a:r>
              <a:rPr b="0" i="0" lang="en-US" sz="127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... John gave a bottle of milk to __</a:t>
            </a:r>
            <a:endParaRPr b="0" i="0" sz="12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024128" y="4498848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Only one key token changes.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That lets us ask what internal information moves.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709160" y="2304288"/>
            <a:ext cx="1051560" cy="457200"/>
          </a:xfrm>
          <a:prstGeom prst="roundRect">
            <a:avLst>
              <a:gd fmla="val 16000" name="adj"/>
            </a:avLst>
          </a:prstGeom>
          <a:solidFill>
            <a:srgbClr val="17395D"/>
          </a:solidFill>
          <a:ln cap="flat" cmpd="sng" w="12700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709160" y="2450592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clean state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446520" y="3730752"/>
            <a:ext cx="1051560" cy="457200"/>
          </a:xfrm>
          <a:prstGeom prst="roundRect">
            <a:avLst>
              <a:gd fmla="val 16000" name="adj"/>
            </a:avLst>
          </a:prstGeom>
          <a:solidFill>
            <a:srgbClr val="4A2234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446520" y="3877056"/>
            <a:ext cx="1051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bad run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5"/>
          <p:cNvCxnSpPr/>
          <p:nvPr/>
        </p:nvCxnSpPr>
        <p:spPr>
          <a:xfrm>
            <a:off x="5577840" y="2615184"/>
            <a:ext cx="868680" cy="1115568"/>
          </a:xfrm>
          <a:prstGeom prst="straightConnector1">
            <a:avLst/>
          </a:prstGeom>
          <a:noFill/>
          <a:ln cap="flat" cmpd="sng" w="22850">
            <a:solidFill>
              <a:srgbClr val="31D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5"/>
          <p:cNvSpPr/>
          <p:nvPr/>
        </p:nvSpPr>
        <p:spPr>
          <a:xfrm>
            <a:off x="4910328" y="3154680"/>
            <a:ext cx="2423160" cy="310896"/>
          </a:xfrm>
          <a:prstGeom prst="roundRect">
            <a:avLst>
              <a:gd fmla="val 29412" name="adj"/>
            </a:avLst>
          </a:prstGeom>
          <a:solidFill>
            <a:srgbClr val="31D0FF"/>
          </a:solidFill>
          <a:ln cap="flat" cmpd="sng" w="9525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910328" y="3163824"/>
            <a:ext cx="2423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swap in one activation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663440" y="452628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Patch = replace one hidden state in the bad run with the matching value from the clean run.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8366760" y="2331720"/>
            <a:ext cx="2697480" cy="548640"/>
          </a:xfrm>
          <a:prstGeom prst="roundRect">
            <a:avLst>
              <a:gd fmla="val 13333" name="adj"/>
            </a:avLst>
          </a:prstGeom>
          <a:solidFill>
            <a:srgbClr val="122844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8549640" y="2514600"/>
            <a:ext cx="10058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before patch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9281160" y="2496312"/>
            <a:ext cx="1554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-2.7 logit diff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8366760" y="3154680"/>
            <a:ext cx="2697480" cy="548640"/>
          </a:xfrm>
          <a:prstGeom prst="roundRect">
            <a:avLst>
              <a:gd fmla="val 13333" name="adj"/>
            </a:avLst>
          </a:prstGeom>
          <a:solidFill>
            <a:srgbClr val="122844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8549640" y="3337560"/>
            <a:ext cx="10058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after patch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9281160" y="3319272"/>
            <a:ext cx="1554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E0A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FE0A1"/>
                </a:solidFill>
                <a:latin typeface="Arial"/>
                <a:ea typeface="Arial"/>
                <a:cs typeface="Arial"/>
                <a:sym typeface="Arial"/>
              </a:rPr>
              <a:t>+0.8 recovered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366760" y="4206240"/>
            <a:ext cx="2697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If recovery goes up when one patch is inserted, that hidden state probably mattered for the task.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66928" y="6446520"/>
            <a:ext cx="10716768" cy="256032"/>
          </a:xfrm>
          <a:prstGeom prst="roundRect">
            <a:avLst>
              <a:gd fmla="val 21429" name="adj"/>
            </a:avLst>
          </a:prstGeom>
          <a:solidFill>
            <a:srgbClr val="0A2344"/>
          </a:solidFill>
          <a:ln cap="flat" cmpd="sng" w="95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85800" y="6483096"/>
            <a:ext cx="10332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D0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1D0FF"/>
                </a:solidFill>
                <a:latin typeface="Arial"/>
                <a:ea typeface="Arial"/>
                <a:cs typeface="Arial"/>
                <a:sym typeface="Arial"/>
              </a:rPr>
              <a:t>Takeaway: </a:t>
            </a:r>
            <a:r>
              <a:rPr b="0" i="0" lang="en-US" sz="8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Activation patching is useful because it asks a causal question: if we swap this internal piece, does the behavior improve?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8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6"/>
          <p:cNvCxnSpPr/>
          <p:nvPr/>
        </p:nvCxnSpPr>
        <p:spPr>
          <a:xfrm>
            <a:off x="566928" y="310896"/>
            <a:ext cx="11018520" cy="0"/>
          </a:xfrm>
          <a:prstGeom prst="straightConnector1">
            <a:avLst/>
          </a:prstGeom>
          <a:noFill/>
          <a:ln cap="flat" cmpd="sng" w="17775">
            <a:solidFill>
              <a:srgbClr val="31D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6"/>
          <p:cNvSpPr/>
          <p:nvPr/>
        </p:nvSpPr>
        <p:spPr>
          <a:xfrm>
            <a:off x="566928" y="42976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Demo A — IOI: Indirect Object Identification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799164" y="923808"/>
            <a:ext cx="343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1" i="0" lang="en-US" sz="23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Task idea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861600" y="1393552"/>
            <a:ext cx="479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The model must continue a sentence with the right person.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9719527" y="1257331"/>
            <a:ext cx="1326000" cy="391500"/>
          </a:xfrm>
          <a:prstGeom prst="roundRect">
            <a:avLst>
              <a:gd fmla="val 32258" name="adj"/>
            </a:avLst>
          </a:prstGeom>
          <a:solidFill>
            <a:srgbClr val="2FE0A1"/>
          </a:solidFill>
          <a:ln cap="flat" cmpd="sng" w="13150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275" lIns="126275" spcFirstLastPara="1" rIns="126275" wrap="square" tIns="12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9719527" y="1257336"/>
            <a:ext cx="1326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389750" y="2142975"/>
            <a:ext cx="38010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930"/>
              <a:buFont typeface="Arial"/>
              <a:buNone/>
            </a:pPr>
            <a:r>
              <a:rPr b="0" i="0" lang="en-US" sz="2614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After John and Mary went to the store, Mary gave a bottle of milk to __</a:t>
            </a:r>
            <a:endParaRPr b="0" i="0" sz="261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708016" y="3576539"/>
            <a:ext cx="2540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FE0A1"/>
              </a:buClr>
              <a:buSzPts val="1775"/>
              <a:buFont typeface="Arial"/>
              <a:buNone/>
            </a:pPr>
            <a:r>
              <a:rPr b="1" lang="en-US" sz="1775">
                <a:solidFill>
                  <a:srgbClr val="2FE0A1"/>
                </a:solidFill>
              </a:rPr>
              <a:t>Correct next token: John</a:t>
            </a:r>
            <a:endParaRPr sz="1775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E0A1"/>
              </a:buClr>
              <a:buSzPts val="1775"/>
              <a:buFont typeface="Arial"/>
              <a:buNone/>
            </a:pPr>
            <a:r>
              <a:t/>
            </a:r>
            <a:endParaRPr sz="1775">
              <a:solidFill>
                <a:schemeClr val="dk1"/>
              </a:solidFill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003174" y="1904602"/>
            <a:ext cx="2186100" cy="574500"/>
          </a:xfrm>
          <a:prstGeom prst="roundRect">
            <a:avLst>
              <a:gd fmla="val 32258" name="adj"/>
            </a:avLst>
          </a:prstGeom>
          <a:solidFill>
            <a:srgbClr val="FF6B6B"/>
          </a:solidFill>
          <a:ln cap="flat" cmpd="sng" w="193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225" lIns="185225" spcFirstLastPara="1" rIns="185225" wrap="square" tIns="1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38"/>
          </a:p>
        </p:txBody>
      </p:sp>
      <p:sp>
        <p:nvSpPr>
          <p:cNvPr id="182" name="Google Shape;182;p6"/>
          <p:cNvSpPr/>
          <p:nvPr/>
        </p:nvSpPr>
        <p:spPr>
          <a:xfrm>
            <a:off x="1003174" y="1923127"/>
            <a:ext cx="21861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2087"/>
              <a:buFont typeface="Arial"/>
              <a:buNone/>
            </a:pPr>
            <a:r>
              <a:rPr b="1" i="0" lang="en-US" sz="2739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corrupted</a:t>
            </a:r>
            <a:endParaRPr b="0" i="0" sz="273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003176" y="2554254"/>
            <a:ext cx="3801000" cy="1077900"/>
          </a:xfrm>
          <a:prstGeom prst="roundRect">
            <a:avLst>
              <a:gd fmla="val 8421" name="adj"/>
            </a:avLst>
          </a:prstGeom>
          <a:solidFill>
            <a:srgbClr val="112845"/>
          </a:solidFill>
          <a:ln cap="flat" cmpd="sng" w="1575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450" lIns="113450" spcFirstLastPara="1" rIns="113450" wrap="square" tIns="11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1287351" y="2735625"/>
            <a:ext cx="3263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250"/>
              <a:buFont typeface="Arial"/>
              <a:buNone/>
            </a:pPr>
            <a:r>
              <a:rPr b="0" i="0" lang="en-US" sz="165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After John and Mary went to the store, John gave a bottle of milk to __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489649" y="3810669"/>
            <a:ext cx="206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50"/>
              <a:buFont typeface="Arial"/>
              <a:buNone/>
            </a:pPr>
            <a:r>
              <a:rPr b="1" lang="en-US" sz="1850">
                <a:solidFill>
                  <a:srgbClr val="FF6B6B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wrong</a:t>
            </a:r>
            <a:r>
              <a:rPr b="1" i="0" lang="en-US" sz="1850" u="none" cap="none" strike="noStrike">
                <a:solidFill>
                  <a:srgbClr val="FF6B6B"/>
                </a:solidFill>
                <a:latin typeface="Comic Sans MS"/>
                <a:ea typeface="Comic Sans MS"/>
                <a:cs typeface="Comic Sans MS"/>
                <a:sym typeface="Comic Sans MS"/>
              </a:rPr>
              <a:t> next token is favored: Mary</a:t>
            </a:r>
            <a:endParaRPr i="0" sz="185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975725" y="4684575"/>
            <a:ext cx="46692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00"/>
              <a:buFont typeface="Arial"/>
              <a:buNone/>
            </a:pPr>
            <a:r>
              <a:rPr b="1" i="0" lang="en-US" sz="2600" u="none" cap="none" strike="noStrike">
                <a:solidFill>
                  <a:srgbClr val="F5F9FF"/>
                </a:solidFill>
                <a:latin typeface="Montserrat"/>
                <a:ea typeface="Montserrat"/>
                <a:cs typeface="Montserrat"/>
                <a:sym typeface="Montserrat"/>
              </a:rPr>
              <a:t>Why this demo is useful</a:t>
            </a:r>
            <a:endParaRPr i="0" sz="2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1875669" y="5527477"/>
            <a:ext cx="8483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380"/>
              <a:buFont typeface="Comic Sans MS"/>
              <a:buChar char="•"/>
            </a:pPr>
            <a:r>
              <a:rPr i="0" lang="en-US" sz="1380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task is simple enough to understand</a:t>
            </a:r>
            <a:endParaRPr i="0" sz="138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380"/>
              <a:buFont typeface="Comic Sans MS"/>
              <a:buChar char="•"/>
            </a:pPr>
            <a:r>
              <a:rPr i="0" lang="en-US" sz="1380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model still solves it using nontrivial internal structure</a:t>
            </a:r>
            <a:endParaRPr i="0" sz="138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380"/>
              <a:buFont typeface="Comic Sans MS"/>
              <a:buChar char="•"/>
            </a:pPr>
            <a:r>
              <a:rPr i="0" lang="en-US" sz="1380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That makes it a good lab task for localization</a:t>
            </a:r>
            <a:endParaRPr i="0" sz="138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8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p7"/>
          <p:cNvCxnSpPr/>
          <p:nvPr/>
        </p:nvCxnSpPr>
        <p:spPr>
          <a:xfrm>
            <a:off x="566928" y="310896"/>
            <a:ext cx="11018520" cy="0"/>
          </a:xfrm>
          <a:prstGeom prst="straightConnector1">
            <a:avLst/>
          </a:prstGeom>
          <a:noFill/>
          <a:ln cap="flat" cmpd="sng" w="17775">
            <a:solidFill>
              <a:srgbClr val="31D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7"/>
          <p:cNvSpPr/>
          <p:nvPr/>
        </p:nvSpPr>
        <p:spPr>
          <a:xfrm>
            <a:off x="566928" y="42976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Sparse Autoencoders (SAEs): From Dense Activity to Cleaner Features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31520" y="1115568"/>
            <a:ext cx="3429000" cy="5285232"/>
          </a:xfrm>
          <a:prstGeom prst="roundRect">
            <a:avLst>
              <a:gd fmla="val 2133" name="adj"/>
            </a:avLst>
          </a:prstGeom>
          <a:solidFill>
            <a:srgbClr val="0D2342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969281" y="1207031"/>
            <a:ext cx="319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F5F9FF"/>
                </a:solidFill>
                <a:latin typeface="Merriweather"/>
                <a:ea typeface="Merriweather"/>
                <a:cs typeface="Merriweather"/>
                <a:sym typeface="Merriweather"/>
              </a:rPr>
              <a:t>Why SAEs show up in </a:t>
            </a:r>
            <a:r>
              <a:rPr b="1" lang="en-US" sz="1600">
                <a:solidFill>
                  <a:srgbClr val="F5F9FF"/>
                </a:solidFill>
                <a:latin typeface="Merriweather"/>
                <a:ea typeface="Merriweather"/>
                <a:cs typeface="Merriweather"/>
                <a:sym typeface="Merriweather"/>
              </a:rPr>
              <a:t>ML</a:t>
            </a:r>
            <a:endParaRPr i="0" sz="1600" u="none" cap="none" strike="noStrike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969264" y="1783080"/>
            <a:ext cx="2788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20"/>
              <a:buFont typeface="Comic Sans MS"/>
              <a:buChar char="•"/>
            </a:pPr>
            <a:r>
              <a:rPr i="0" lang="en-US" sz="1520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Raw activations are dense and mixed</a:t>
            </a:r>
            <a:endParaRPr i="0" sz="152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20"/>
              <a:buFont typeface="Comic Sans MS"/>
              <a:buChar char="•"/>
            </a:pPr>
            <a:r>
              <a:rPr i="0" lang="en-US" sz="1520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Researchers want a smaller set of candidate features that turn on sparsely</a:t>
            </a:r>
            <a:endParaRPr i="0" sz="152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520"/>
              <a:buFont typeface="Comic Sans MS"/>
              <a:buChar char="•"/>
            </a:pPr>
            <a:r>
              <a:rPr i="0" lang="en-US" sz="1520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Those features are easier to visualize, browse, and sometimes steer</a:t>
            </a:r>
            <a:endParaRPr i="0" sz="152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969285" y="3593566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Plain-English definition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969264" y="396849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FF0000"/>
                </a:solidFill>
                <a:highlight>
                  <a:srgbClr val="FFE599"/>
                </a:highlight>
                <a:latin typeface="Arial"/>
                <a:ea typeface="Arial"/>
                <a:cs typeface="Arial"/>
                <a:sym typeface="Arial"/>
              </a:rPr>
              <a:t>An SAE is an encoder–decoder trained on hidden activations so the middle code stays sparse. The sparse units are treated as candidate features.</a:t>
            </a:r>
            <a:endParaRPr b="0" i="0" sz="1420" u="none" cap="none" strike="noStrike">
              <a:solidFill>
                <a:srgbClr val="FF0000"/>
              </a:solidFill>
              <a:highlight>
                <a:srgbClr val="FFE59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969264" y="5285232"/>
            <a:ext cx="2240280" cy="320040"/>
          </a:xfrm>
          <a:prstGeom prst="roundRect">
            <a:avLst>
              <a:gd fmla="val 28571" name="adj"/>
            </a:avLst>
          </a:prstGeom>
          <a:solidFill>
            <a:srgbClr val="FFC857"/>
          </a:solidFill>
          <a:ln cap="flat" cmpd="sng" w="9525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969264" y="5294376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20"/>
              <a:buFont typeface="Arial"/>
              <a:buNone/>
            </a:pPr>
            <a:r>
              <a:rPr b="1" i="0" lang="en-US" sz="102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few active features, many inactive ones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443984" y="1115568"/>
            <a:ext cx="6858000" cy="5285232"/>
          </a:xfrm>
          <a:prstGeom prst="roundRect">
            <a:avLst>
              <a:gd fmla="val 1384" name="adj"/>
            </a:avLst>
          </a:prstGeom>
          <a:solidFill>
            <a:srgbClr val="0A1F3B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718304" y="1389888"/>
            <a:ext cx="2240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791456" y="1828800"/>
            <a:ext cx="1097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dense model state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846320" y="4160520"/>
            <a:ext cx="100584" cy="365760"/>
          </a:xfrm>
          <a:prstGeom prst="rect">
            <a:avLst/>
          </a:prstGeom>
          <a:solidFill>
            <a:srgbClr val="8AA4C8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5010912" y="3959352"/>
            <a:ext cx="100584" cy="566928"/>
          </a:xfrm>
          <a:prstGeom prst="rect">
            <a:avLst/>
          </a:prstGeom>
          <a:solidFill>
            <a:srgbClr val="5D7FAF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175504" y="3758184"/>
            <a:ext cx="100584" cy="768096"/>
          </a:xfrm>
          <a:prstGeom prst="rect">
            <a:avLst/>
          </a:prstGeom>
          <a:solidFill>
            <a:srgbClr val="8AA4C8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5340096" y="4160520"/>
            <a:ext cx="100584" cy="365760"/>
          </a:xfrm>
          <a:prstGeom prst="rect">
            <a:avLst/>
          </a:prstGeom>
          <a:solidFill>
            <a:srgbClr val="5D7FAF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5504688" y="3639312"/>
            <a:ext cx="100584" cy="886968"/>
          </a:xfrm>
          <a:prstGeom prst="rect">
            <a:avLst/>
          </a:prstGeom>
          <a:solidFill>
            <a:srgbClr val="8AA4C8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669280" y="3758184"/>
            <a:ext cx="100584" cy="768096"/>
          </a:xfrm>
          <a:prstGeom prst="rect">
            <a:avLst/>
          </a:prstGeom>
          <a:solidFill>
            <a:srgbClr val="5D7FAF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833872" y="4160520"/>
            <a:ext cx="100584" cy="365760"/>
          </a:xfrm>
          <a:prstGeom prst="rect">
            <a:avLst/>
          </a:prstGeom>
          <a:solidFill>
            <a:srgbClr val="8AA4C8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5998464" y="3959352"/>
            <a:ext cx="100584" cy="566928"/>
          </a:xfrm>
          <a:prstGeom prst="rect">
            <a:avLst/>
          </a:prstGeom>
          <a:solidFill>
            <a:srgbClr val="5D7FAF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163056" y="3593592"/>
            <a:ext cx="100584" cy="932688"/>
          </a:xfrm>
          <a:prstGeom prst="rect">
            <a:avLst/>
          </a:prstGeom>
          <a:solidFill>
            <a:srgbClr val="8AA4C8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327648" y="4160520"/>
            <a:ext cx="100584" cy="365760"/>
          </a:xfrm>
          <a:prstGeom prst="rect">
            <a:avLst/>
          </a:prstGeom>
          <a:solidFill>
            <a:srgbClr val="5D7FAF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492240" y="3959352"/>
            <a:ext cx="100584" cy="566928"/>
          </a:xfrm>
          <a:prstGeom prst="rect">
            <a:avLst/>
          </a:prstGeom>
          <a:solidFill>
            <a:srgbClr val="8AA4C8"/>
          </a:solidFill>
          <a:ln cap="flat" cmpd="sng" w="9525">
            <a:solidFill>
              <a:srgbClr val="8AA4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446520" y="2331720"/>
            <a:ext cx="914400" cy="1371600"/>
          </a:xfrm>
          <a:prstGeom prst="roundRect">
            <a:avLst>
              <a:gd fmla="val 8000" name="adj"/>
            </a:avLst>
          </a:prstGeom>
          <a:solidFill>
            <a:srgbClr val="12345A"/>
          </a:solidFill>
          <a:ln cap="flat" cmpd="sng" w="12700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537960" y="2907792"/>
            <a:ext cx="7315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7"/>
          <p:cNvCxnSpPr/>
          <p:nvPr/>
        </p:nvCxnSpPr>
        <p:spPr>
          <a:xfrm>
            <a:off x="5897880" y="2999232"/>
            <a:ext cx="548640" cy="0"/>
          </a:xfrm>
          <a:prstGeom prst="straightConnector1">
            <a:avLst/>
          </a:prstGeom>
          <a:noFill/>
          <a:ln cap="flat" cmpd="sng" w="17775">
            <a:solidFill>
              <a:srgbClr val="31D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" name="Google Shape;219;p7"/>
          <p:cNvSpPr/>
          <p:nvPr/>
        </p:nvSpPr>
        <p:spPr>
          <a:xfrm>
            <a:off x="7699248" y="182880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sparse feature code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543800" y="2240280"/>
            <a:ext cx="1444752" cy="274320"/>
          </a:xfrm>
          <a:prstGeom prst="roundRect">
            <a:avLst>
              <a:gd fmla="val 33333" name="adj"/>
            </a:avLst>
          </a:prstGeom>
          <a:solidFill>
            <a:srgbClr val="FF8C42"/>
          </a:solidFill>
          <a:ln cap="flat" cmpd="sng" w="9525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7543800" y="2249424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bridge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9098280" y="2286000"/>
            <a:ext cx="912114" cy="164592"/>
          </a:xfrm>
          <a:prstGeom prst="rect">
            <a:avLst/>
          </a:prstGeom>
          <a:solidFill>
            <a:srgbClr val="FF8C42"/>
          </a:solidFill>
          <a:ln cap="flat" cmpd="sng" w="9525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10010394" y="2286000"/>
            <a:ext cx="48006" cy="164592"/>
          </a:xfrm>
          <a:prstGeom prst="rect">
            <a:avLst/>
          </a:prstGeom>
          <a:solidFill>
            <a:srgbClr val="16324F"/>
          </a:solidFill>
          <a:ln cap="flat" cmpd="sng" w="9525">
            <a:solidFill>
              <a:srgbClr val="234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7543800" y="2679192"/>
            <a:ext cx="1444752" cy="274320"/>
          </a:xfrm>
          <a:prstGeom prst="roundRect">
            <a:avLst>
              <a:gd fmla="val 33333" name="adj"/>
            </a:avLst>
          </a:prstGeom>
          <a:solidFill>
            <a:srgbClr val="FFC857"/>
          </a:solidFill>
          <a:ln cap="flat" cmpd="sng" w="9525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7543800" y="2688336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praise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9098280" y="2724912"/>
            <a:ext cx="691286" cy="164592"/>
          </a:xfrm>
          <a:prstGeom prst="rect">
            <a:avLst/>
          </a:prstGeom>
          <a:solidFill>
            <a:srgbClr val="FFC857"/>
          </a:solidFill>
          <a:ln cap="flat" cmpd="sng" w="9525">
            <a:solidFill>
              <a:srgbClr val="FFC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9789566" y="2724912"/>
            <a:ext cx="268834" cy="164592"/>
          </a:xfrm>
          <a:prstGeom prst="rect">
            <a:avLst/>
          </a:prstGeom>
          <a:solidFill>
            <a:srgbClr val="16324F"/>
          </a:solidFill>
          <a:ln cap="flat" cmpd="sng" w="9525">
            <a:solidFill>
              <a:srgbClr val="234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7543800" y="3118104"/>
            <a:ext cx="1444752" cy="274320"/>
          </a:xfrm>
          <a:prstGeom prst="roundRect">
            <a:avLst>
              <a:gd fmla="val 33333" name="adj"/>
            </a:avLst>
          </a:prstGeom>
          <a:solidFill>
            <a:srgbClr val="2FE0A1"/>
          </a:solidFill>
          <a:ln cap="flat" cmpd="sng" w="9525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7543800" y="3127248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code bug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9098280" y="3163824"/>
            <a:ext cx="537667" cy="164592"/>
          </a:xfrm>
          <a:prstGeom prst="rect">
            <a:avLst/>
          </a:prstGeom>
          <a:solidFill>
            <a:srgbClr val="2FE0A1"/>
          </a:solidFill>
          <a:ln cap="flat" cmpd="sng" w="9525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9635947" y="3163824"/>
            <a:ext cx="422453" cy="164592"/>
          </a:xfrm>
          <a:prstGeom prst="rect">
            <a:avLst/>
          </a:prstGeom>
          <a:solidFill>
            <a:srgbClr val="16324F"/>
          </a:solidFill>
          <a:ln cap="flat" cmpd="sng" w="9525">
            <a:solidFill>
              <a:srgbClr val="234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7543800" y="3557016"/>
            <a:ext cx="1444752" cy="274320"/>
          </a:xfrm>
          <a:prstGeom prst="roundRect">
            <a:avLst>
              <a:gd fmla="val 33333" name="adj"/>
            </a:avLst>
          </a:prstGeom>
          <a:solidFill>
            <a:srgbClr val="2F7EEA"/>
          </a:solidFill>
          <a:ln cap="flat" cmpd="sng" w="9525">
            <a:solidFill>
              <a:srgbClr val="2F7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7543800" y="3566160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9098280" y="3602736"/>
            <a:ext cx="144018" cy="164592"/>
          </a:xfrm>
          <a:prstGeom prst="rect">
            <a:avLst/>
          </a:prstGeom>
          <a:solidFill>
            <a:srgbClr val="2F7EEA"/>
          </a:solidFill>
          <a:ln cap="flat" cmpd="sng" w="9525">
            <a:solidFill>
              <a:srgbClr val="2F7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9242298" y="3602736"/>
            <a:ext cx="816102" cy="164592"/>
          </a:xfrm>
          <a:prstGeom prst="rect">
            <a:avLst/>
          </a:prstGeom>
          <a:solidFill>
            <a:srgbClr val="16324F"/>
          </a:solidFill>
          <a:ln cap="flat" cmpd="sng" w="9525">
            <a:solidFill>
              <a:srgbClr val="234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7543800" y="3995928"/>
            <a:ext cx="1444752" cy="274320"/>
          </a:xfrm>
          <a:prstGeom prst="roundRect">
            <a:avLst>
              <a:gd fmla="val 33333" name="adj"/>
            </a:avLst>
          </a:prstGeom>
          <a:solidFill>
            <a:srgbClr val="6F7DFF"/>
          </a:solidFill>
          <a:ln cap="flat" cmpd="sng" w="9525">
            <a:solidFill>
              <a:srgbClr val="6F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7543800" y="4005072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biology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9098280" y="4041648"/>
            <a:ext cx="76810" cy="164592"/>
          </a:xfrm>
          <a:prstGeom prst="rect">
            <a:avLst/>
          </a:prstGeom>
          <a:solidFill>
            <a:srgbClr val="6F7DFF"/>
          </a:solidFill>
          <a:ln cap="flat" cmpd="sng" w="9525">
            <a:solidFill>
              <a:srgbClr val="6F7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9175090" y="4041648"/>
            <a:ext cx="883310" cy="164592"/>
          </a:xfrm>
          <a:prstGeom prst="rect">
            <a:avLst/>
          </a:prstGeom>
          <a:solidFill>
            <a:srgbClr val="16324F"/>
          </a:solidFill>
          <a:ln cap="flat" cmpd="sng" w="9525">
            <a:solidFill>
              <a:srgbClr val="234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7543800" y="4434840"/>
            <a:ext cx="1444752" cy="274320"/>
          </a:xfrm>
          <a:prstGeom prst="roundRect">
            <a:avLst>
              <a:gd fmla="val 33333" name="adj"/>
            </a:avLst>
          </a:prstGeom>
          <a:solidFill>
            <a:srgbClr val="FF6BB5"/>
          </a:solidFill>
          <a:ln cap="flat" cmpd="sng" w="9525">
            <a:solidFill>
              <a:srgbClr val="FF6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7543800" y="4443984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math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9098280" y="4480560"/>
            <a:ext cx="48006" cy="164592"/>
          </a:xfrm>
          <a:prstGeom prst="rect">
            <a:avLst/>
          </a:prstGeom>
          <a:solidFill>
            <a:srgbClr val="FF6BB5"/>
          </a:solidFill>
          <a:ln cap="flat" cmpd="sng" w="9525">
            <a:solidFill>
              <a:srgbClr val="FF6B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9146286" y="4480560"/>
            <a:ext cx="912114" cy="164592"/>
          </a:xfrm>
          <a:prstGeom prst="rect">
            <a:avLst/>
          </a:prstGeom>
          <a:solidFill>
            <a:srgbClr val="16324F"/>
          </a:solidFill>
          <a:ln cap="flat" cmpd="sng" w="9525">
            <a:solidFill>
              <a:srgbClr val="234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p7"/>
          <p:cNvCxnSpPr/>
          <p:nvPr/>
        </p:nvCxnSpPr>
        <p:spPr>
          <a:xfrm>
            <a:off x="9921240" y="2999232"/>
            <a:ext cx="566928" cy="0"/>
          </a:xfrm>
          <a:prstGeom prst="straightConnector1">
            <a:avLst/>
          </a:prstGeom>
          <a:noFill/>
          <a:ln cap="flat" cmpd="sng" w="17775">
            <a:solidFill>
              <a:srgbClr val="31D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" name="Google Shape;245;p7"/>
          <p:cNvSpPr/>
          <p:nvPr/>
        </p:nvSpPr>
        <p:spPr>
          <a:xfrm>
            <a:off x="10488168" y="2331720"/>
            <a:ext cx="749808" cy="1371600"/>
          </a:xfrm>
          <a:prstGeom prst="roundRect">
            <a:avLst>
              <a:gd fmla="val 9756" name="adj"/>
            </a:avLst>
          </a:prstGeom>
          <a:solidFill>
            <a:srgbClr val="12345A"/>
          </a:solidFill>
          <a:ln cap="flat" cmpd="sng" w="12700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0543032" y="2770632"/>
            <a:ext cx="6217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decoder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7498080" y="52120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Model behavior can sometimes be influenced by increasing or decreasing these feature values.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66928" y="6446520"/>
            <a:ext cx="10716768" cy="256032"/>
          </a:xfrm>
          <a:prstGeom prst="roundRect">
            <a:avLst>
              <a:gd fmla="val 21429" name="adj"/>
            </a:avLst>
          </a:prstGeom>
          <a:solidFill>
            <a:srgbClr val="0A2344"/>
          </a:solidFill>
          <a:ln cap="flat" cmpd="sng" w="95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685800" y="6483096"/>
            <a:ext cx="10332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D0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1D0FF"/>
                </a:solidFill>
                <a:latin typeface="Arial"/>
                <a:ea typeface="Arial"/>
                <a:cs typeface="Arial"/>
                <a:sym typeface="Arial"/>
              </a:rPr>
              <a:t>Takeaway: </a:t>
            </a:r>
            <a:r>
              <a:rPr b="0" i="0" lang="en-US" sz="8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SAEs do not reveal the whole computation, but they often give more usable units than raw neurons.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8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8"/>
          <p:cNvCxnSpPr/>
          <p:nvPr/>
        </p:nvCxnSpPr>
        <p:spPr>
          <a:xfrm>
            <a:off x="566928" y="310896"/>
            <a:ext cx="11018520" cy="0"/>
          </a:xfrm>
          <a:prstGeom prst="straightConnector1">
            <a:avLst/>
          </a:prstGeom>
          <a:noFill/>
          <a:ln cap="flat" cmpd="sng" w="17775">
            <a:solidFill>
              <a:srgbClr val="31D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8"/>
          <p:cNvSpPr/>
          <p:nvPr/>
        </p:nvSpPr>
        <p:spPr>
          <a:xfrm>
            <a:off x="566928" y="42976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Demo B — Feature Visualization and Feature Steering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07483" y="964729"/>
            <a:ext cx="5257800" cy="5358300"/>
          </a:xfrm>
          <a:prstGeom prst="roundRect">
            <a:avLst>
              <a:gd fmla="val 1391" name="adj"/>
            </a:avLst>
          </a:prstGeom>
          <a:solidFill>
            <a:srgbClr val="0D2342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987552" y="135331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Feature visualization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2627109" y="1339649"/>
            <a:ext cx="277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450"/>
              <a:buFont typeface="Arial"/>
              <a:buNone/>
            </a:pPr>
            <a:r>
              <a:rPr i="0" lang="en-US" sz="1450" u="none" cap="none" strike="noStrike">
                <a:solidFill>
                  <a:srgbClr val="2FE0A1"/>
                </a:solidFill>
                <a:latin typeface="Comfortaa"/>
                <a:ea typeface="Comfortaa"/>
                <a:cs typeface="Comfortaa"/>
                <a:sym typeface="Comfortaa"/>
              </a:rPr>
              <a:t>A useful feature should light up across related contexts, not just one exact phrase.</a:t>
            </a:r>
            <a:endParaRPr i="0" sz="1450" u="none" cap="none" strike="noStrike">
              <a:solidFill>
                <a:srgbClr val="2FE0A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987552" y="2011680"/>
            <a:ext cx="2103120" cy="292608"/>
          </a:xfrm>
          <a:prstGeom prst="roundRect">
            <a:avLst>
              <a:gd fmla="val 31250" name="adj"/>
            </a:avLst>
          </a:prstGeom>
          <a:solidFill>
            <a:srgbClr val="FF8C42"/>
          </a:solidFill>
          <a:ln cap="flat" cmpd="sng" w="9525">
            <a:solidFill>
              <a:srgbClr val="FF8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987552" y="202082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20"/>
              <a:buFont typeface="Arial"/>
              <a:buNone/>
            </a:pPr>
            <a:r>
              <a:rPr b="1" i="0" lang="en-US" sz="102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example: Golden Gate Bridge feature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987552" y="2487168"/>
            <a:ext cx="4526280" cy="384048"/>
          </a:xfrm>
          <a:prstGeom prst="roundRect">
            <a:avLst>
              <a:gd fmla="val 19048" name="adj"/>
            </a:avLst>
          </a:prstGeom>
          <a:solidFill>
            <a:srgbClr val="122845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1115568" y="2596896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English: 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920240" y="2578608"/>
            <a:ext cx="2194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FF8C42"/>
                </a:solidFill>
                <a:latin typeface="Arial"/>
                <a:ea typeface="Arial"/>
                <a:cs typeface="Arial"/>
                <a:sym typeface="Arial"/>
              </a:rPr>
              <a:t>the Golden Gate Bridge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160520" y="2596896"/>
            <a:ext cx="10972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 is crowded at sunset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987552" y="3017520"/>
            <a:ext cx="4526280" cy="384048"/>
          </a:xfrm>
          <a:prstGeom prst="roundRect">
            <a:avLst>
              <a:gd fmla="val 19048" name="adj"/>
            </a:avLst>
          </a:prstGeom>
          <a:solidFill>
            <a:srgbClr val="122845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1115568" y="3127248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Japanese: 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920240" y="3108960"/>
            <a:ext cx="2194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FF8C42"/>
                </a:solidFill>
                <a:latin typeface="Arial"/>
                <a:ea typeface="Arial"/>
                <a:cs typeface="Arial"/>
                <a:sym typeface="Arial"/>
              </a:rPr>
              <a:t>ゴールデン・ゲート・ブリッジ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4160520" y="3127248"/>
            <a:ext cx="10972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 に行った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987552" y="3547872"/>
            <a:ext cx="4526280" cy="384048"/>
          </a:xfrm>
          <a:prstGeom prst="roundRect">
            <a:avLst>
              <a:gd fmla="val 19048" name="adj"/>
            </a:avLst>
          </a:prstGeom>
          <a:solidFill>
            <a:srgbClr val="122845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1115568" y="3657600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Chinese: 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1920240" y="3639312"/>
            <a:ext cx="2194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FF8C42"/>
                </a:solidFill>
                <a:latin typeface="Arial"/>
                <a:ea typeface="Arial"/>
                <a:cs typeface="Arial"/>
                <a:sym typeface="Arial"/>
              </a:rPr>
              <a:t>金门大桥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160520" y="3657600"/>
            <a:ext cx="10972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 是旧金山地标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987552" y="4078224"/>
            <a:ext cx="4526280" cy="384048"/>
          </a:xfrm>
          <a:prstGeom prst="roundRect">
            <a:avLst>
              <a:gd fmla="val 19048" name="adj"/>
            </a:avLst>
          </a:prstGeom>
          <a:solidFill>
            <a:srgbClr val="122845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1115568" y="4187952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Image tag: 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920240" y="4169664"/>
            <a:ext cx="2194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FF8C42"/>
                </a:solidFill>
                <a:latin typeface="Arial"/>
                <a:ea typeface="Arial"/>
                <a:cs typeface="Arial"/>
                <a:sym typeface="Arial"/>
              </a:rPr>
              <a:t>red suspension bridge in San Francisco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987552" y="4608576"/>
            <a:ext cx="4526280" cy="384048"/>
          </a:xfrm>
          <a:prstGeom prst="roundRect">
            <a:avLst>
              <a:gd fmla="val 19048" name="adj"/>
            </a:avLst>
          </a:prstGeom>
          <a:solidFill>
            <a:srgbClr val="122845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1115568" y="4718304"/>
            <a:ext cx="86868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Neighboring feature: 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1920240" y="4700016"/>
            <a:ext cx="21945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FF8C42"/>
                </a:solidFill>
                <a:latin typeface="Arial"/>
                <a:ea typeface="Arial"/>
                <a:cs typeface="Arial"/>
                <a:sym typeface="Arial"/>
              </a:rPr>
              <a:t>Alcatraz / Bay / SF landmark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987552" y="5431536"/>
            <a:ext cx="4526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Interpretation: the same internal direction fires across languages and modalities, which is why people call it a “feature” rather than a single token detector.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6184007" y="983029"/>
            <a:ext cx="5257800" cy="5358300"/>
          </a:xfrm>
          <a:prstGeom prst="roundRect">
            <a:avLst>
              <a:gd fmla="val 1391" name="adj"/>
            </a:avLst>
          </a:prstGeom>
          <a:solidFill>
            <a:srgbClr val="0A1F3B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6455664" y="135331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Feature steering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7591641" y="1270194"/>
            <a:ext cx="367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450"/>
              <a:buFont typeface="Arial"/>
              <a:buNone/>
            </a:pPr>
            <a:r>
              <a:rPr i="0" lang="en-US" sz="1450" u="none" cap="none" strike="noStrike">
                <a:solidFill>
                  <a:srgbClr val="00FFFF"/>
                </a:solidFill>
                <a:latin typeface="Comfortaa"/>
                <a:ea typeface="Comfortaa"/>
                <a:cs typeface="Comfortaa"/>
                <a:sym typeface="Comfortaa"/>
              </a:rPr>
              <a:t>If increasing a feature predictably changes the output, that is stronger causal evidence.</a:t>
            </a:r>
            <a:endParaRPr i="0" sz="1450" u="none" cap="none" strike="noStrike">
              <a:solidFill>
                <a:srgbClr val="00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6455664" y="2011680"/>
            <a:ext cx="1517904" cy="292608"/>
          </a:xfrm>
          <a:prstGeom prst="roundRect">
            <a:avLst>
              <a:gd fmla="val 31250" name="adj"/>
            </a:avLst>
          </a:prstGeom>
          <a:solidFill>
            <a:srgbClr val="2FE0A1"/>
          </a:solidFill>
          <a:ln cap="flat" cmpd="sng" w="9525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455664" y="2020824"/>
            <a:ext cx="15179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no intervention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833104" y="2011680"/>
            <a:ext cx="1965960" cy="292608"/>
          </a:xfrm>
          <a:prstGeom prst="roundRect">
            <a:avLst>
              <a:gd fmla="val 31250" name="adj"/>
            </a:avLst>
          </a:prstGeom>
          <a:solidFill>
            <a:srgbClr val="FF6B6B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8924554" y="2048162"/>
            <a:ext cx="196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"praise" feature high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6455664" y="2450592"/>
            <a:ext cx="2048256" cy="2889504"/>
          </a:xfrm>
          <a:prstGeom prst="roundRect">
            <a:avLst>
              <a:gd fmla="val 3571" name="adj"/>
            </a:avLst>
          </a:prstGeom>
          <a:solidFill>
            <a:srgbClr val="F3F0EA"/>
          </a:solidFill>
          <a:ln cap="flat" cmpd="sng" w="12700">
            <a:solidFill>
              <a:srgbClr val="D9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8759952" y="2450592"/>
            <a:ext cx="2048256" cy="2889504"/>
          </a:xfrm>
          <a:prstGeom prst="roundRect">
            <a:avLst>
              <a:gd fmla="val 3571" name="adj"/>
            </a:avLst>
          </a:prstGeom>
          <a:solidFill>
            <a:srgbClr val="F3F0EA"/>
          </a:solidFill>
          <a:ln cap="flat" cmpd="sng" w="12700">
            <a:solidFill>
              <a:srgbClr val="D9D2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6620256" y="2706624"/>
            <a:ext cx="1719072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60"/>
              <a:buFont typeface="Courier New"/>
              <a:buNone/>
            </a:pPr>
            <a:r>
              <a:rPr b="0" i="0" lang="en-US" sz="116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Human: “I invented the phrase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60"/>
              <a:buFont typeface="Courier New"/>
              <a:buNone/>
            </a:pPr>
            <a:r>
              <a:rPr b="0" i="0" lang="en-US" sz="116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Stop and smell the roses.”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"/>
              <a:buFont typeface="Arial"/>
              <a:buNone/>
            </a:pPr>
            <a:r>
              <a:t/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60"/>
              <a:buFont typeface="Courier New"/>
              <a:buNone/>
            </a:pPr>
            <a:r>
              <a:rPr b="0" i="0" lang="en-US" sz="116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Assistant: Actually, that saying is much older. It means slowing down and enjoying small joys in life.</a:t>
            </a:r>
            <a:endParaRPr b="0" i="0" sz="11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8924544" y="2706624"/>
            <a:ext cx="1719072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4C4C"/>
              </a:buClr>
              <a:buSzPts val="1140"/>
              <a:buFont typeface="Courier New"/>
              <a:buNone/>
            </a:pPr>
            <a:r>
              <a:rPr b="0" i="0" lang="en-US" sz="1140" u="none" cap="none" strike="noStrike">
                <a:solidFill>
                  <a:srgbClr val="9B4C4C"/>
                </a:solidFill>
                <a:latin typeface="Courier New"/>
                <a:ea typeface="Courier New"/>
                <a:cs typeface="Courier New"/>
                <a:sym typeface="Courier New"/>
              </a:rPr>
              <a:t>Human: “I invented the phrase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4C4C"/>
              </a:buClr>
              <a:buSzPts val="1140"/>
              <a:buFont typeface="Courier New"/>
              <a:buNone/>
            </a:pPr>
            <a:r>
              <a:rPr b="0" i="0" lang="en-US" sz="1140" u="none" cap="none" strike="noStrike">
                <a:solidFill>
                  <a:srgbClr val="9B4C4C"/>
                </a:solidFill>
                <a:latin typeface="Courier New"/>
                <a:ea typeface="Courier New"/>
                <a:cs typeface="Courier New"/>
                <a:sym typeface="Courier New"/>
              </a:rPr>
              <a:t>Stop and smell the roses.”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Arial"/>
              <a:buNone/>
            </a:pPr>
            <a:r>
              <a:t/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4C4C"/>
              </a:buClr>
              <a:buSzPts val="1140"/>
              <a:buFont typeface="Courier New"/>
              <a:buNone/>
            </a:pPr>
            <a:r>
              <a:rPr b="0" i="0" lang="en-US" sz="1140" u="none" cap="none" strike="noStrike">
                <a:solidFill>
                  <a:srgbClr val="9B4C4C"/>
                </a:solidFill>
                <a:latin typeface="Courier New"/>
                <a:ea typeface="Courier New"/>
                <a:cs typeface="Courier New"/>
                <a:sym typeface="Courier New"/>
              </a:rPr>
              <a:t>Assistant: Your brilliant phrase captures timeless wisdom. It is a profound gift to humanity...</a:t>
            </a:r>
            <a:endParaRPr b="0" i="0" sz="11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8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Google Shape;297;p9"/>
          <p:cNvCxnSpPr/>
          <p:nvPr/>
        </p:nvCxnSpPr>
        <p:spPr>
          <a:xfrm>
            <a:off x="566928" y="310896"/>
            <a:ext cx="11018520" cy="0"/>
          </a:xfrm>
          <a:prstGeom prst="straightConnector1">
            <a:avLst/>
          </a:prstGeom>
          <a:noFill/>
          <a:ln cap="flat" cmpd="sng" w="17775">
            <a:solidFill>
              <a:srgbClr val="31D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9"/>
          <p:cNvSpPr/>
          <p:nvPr/>
        </p:nvSpPr>
        <p:spPr>
          <a:xfrm>
            <a:off x="566928" y="42976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What These Methods Can — and Cannot — Tell Us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731520" y="1115568"/>
            <a:ext cx="5120640" cy="5257800"/>
          </a:xfrm>
          <a:prstGeom prst="roundRect">
            <a:avLst>
              <a:gd fmla="val 1429" name="adj"/>
            </a:avLst>
          </a:prstGeom>
          <a:solidFill>
            <a:srgbClr val="0A1F3B"/>
          </a:solidFill>
          <a:ln cap="flat" cmpd="sng" w="12700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6309360" y="1115568"/>
            <a:ext cx="5120640" cy="5257800"/>
          </a:xfrm>
          <a:prstGeom prst="roundRect">
            <a:avLst>
              <a:gd fmla="val 1429" name="adj"/>
            </a:avLst>
          </a:prstGeom>
          <a:solidFill>
            <a:srgbClr val="0A1F3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987552" y="14173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E0A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E0A1"/>
                </a:solidFill>
                <a:latin typeface="Arial"/>
                <a:ea typeface="Arial"/>
                <a:cs typeface="Arial"/>
                <a:sym typeface="Arial"/>
              </a:rPr>
              <a:t>Useful evidence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987552" y="1828800"/>
            <a:ext cx="43891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Comic Sans MS"/>
              <a:buChar char="•"/>
            </a:pPr>
            <a:r>
              <a:rPr i="0" lang="en-US" sz="1600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Patching can localize where useful information matters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Comic Sans MS"/>
              <a:buChar char="•"/>
            </a:pPr>
            <a:r>
              <a:rPr i="0" lang="en-US" sz="1600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SAEs can expose candidate features that are easier to inspect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Comic Sans MS"/>
              <a:buChar char="•"/>
            </a:pPr>
            <a:r>
              <a:rPr i="0" lang="en-US" sz="1600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Steering can show that some features causally influence behavior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Comic Sans MS"/>
              <a:buChar char="•"/>
            </a:pPr>
            <a:r>
              <a:rPr i="0" lang="en-US" sz="1600" u="none" cap="none" strike="noStrike">
                <a:solidFill>
                  <a:srgbClr val="F5F9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Small tasks like IOI can reveal surprisingly detailed circuits</a:t>
            </a:r>
            <a:endParaRPr i="0" sz="16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987552" y="4846320"/>
            <a:ext cx="2011680" cy="320040"/>
          </a:xfrm>
          <a:prstGeom prst="roundRect">
            <a:avLst>
              <a:gd fmla="val 28571" name="adj"/>
            </a:avLst>
          </a:prstGeom>
          <a:solidFill>
            <a:srgbClr val="2FE0A1"/>
          </a:solidFill>
          <a:ln cap="flat" cmpd="sng" w="9525">
            <a:solidFill>
              <a:srgbClr val="2FE0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987552" y="485546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better than pure correlation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987552" y="5321808"/>
            <a:ext cx="2926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This is why mechanistic interpretability is exciting.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6565392" y="141732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What it does NOT automatically prove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565392" y="1828800"/>
            <a:ext cx="43891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Montserrat"/>
              <a:buChar char="•"/>
            </a:pPr>
            <a:r>
              <a:rPr i="0" lang="en-US" sz="1600" u="none" cap="none" strike="noStrike">
                <a:solidFill>
                  <a:srgbClr val="F5F9FF"/>
                </a:solidFill>
                <a:latin typeface="Montserrat"/>
                <a:ea typeface="Montserrat"/>
                <a:cs typeface="Montserrat"/>
                <a:sym typeface="Montserrat"/>
              </a:rPr>
              <a:t>A clean visualization is not the same as a full mechanism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Montserrat"/>
              <a:buChar char="•"/>
            </a:pPr>
            <a:r>
              <a:rPr i="0" lang="en-US" sz="1600" u="none" cap="none" strike="noStrike">
                <a:solidFill>
                  <a:srgbClr val="F5F9FF"/>
                </a:solidFill>
                <a:latin typeface="Montserrat"/>
                <a:ea typeface="Montserrat"/>
                <a:cs typeface="Montserrat"/>
                <a:sym typeface="Montserrat"/>
              </a:rPr>
              <a:t>Patching can depend on corruption choices, metrics, and patch location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Montserrat"/>
              <a:buChar char="•"/>
            </a:pPr>
            <a:r>
              <a:rPr i="0" lang="en-US" sz="1600" u="none" cap="none" strike="noStrike">
                <a:solidFill>
                  <a:srgbClr val="F5F9FF"/>
                </a:solidFill>
                <a:latin typeface="Montserrat"/>
                <a:ea typeface="Montserrat"/>
                <a:cs typeface="Montserrat"/>
                <a:sym typeface="Montserrat"/>
              </a:rPr>
              <a:t>Features can be incomplete, spurious, or only part of the full computation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600"/>
              <a:buFont typeface="Montserrat"/>
              <a:buChar char="•"/>
            </a:pPr>
            <a:r>
              <a:rPr i="0" lang="en-US" sz="1600" u="none" cap="none" strike="noStrike">
                <a:solidFill>
                  <a:srgbClr val="F5F9FF"/>
                </a:solidFill>
                <a:latin typeface="Montserrat"/>
                <a:ea typeface="Montserrat"/>
                <a:cs typeface="Montserrat"/>
                <a:sym typeface="Montserrat"/>
              </a:rPr>
              <a:t>Large frontier models are still far from fully mapped</a:t>
            </a:r>
            <a:endParaRPr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6565392" y="4846320"/>
            <a:ext cx="2331720" cy="320040"/>
          </a:xfrm>
          <a:prstGeom prst="roundRect">
            <a:avLst>
              <a:gd fmla="val 28571" name="adj"/>
            </a:avLst>
          </a:prstGeom>
          <a:solidFill>
            <a:srgbClr val="FF6B6B"/>
          </a:solidFill>
          <a:ln cap="flat" cmpd="sng" w="9525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6565392" y="4855464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010"/>
              <a:buFont typeface="Arial"/>
              <a:buNone/>
            </a:pPr>
            <a:r>
              <a:rPr b="1" i="0" lang="en-US" sz="101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partial understanding, not transparency</a:t>
            </a:r>
            <a:endParaRPr b="0" i="0" sz="10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6565392" y="5321808"/>
            <a:ext cx="3931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That is why researchers emphasize validation, scaling, and open problems.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566928" y="6446520"/>
            <a:ext cx="10716768" cy="256032"/>
          </a:xfrm>
          <a:prstGeom prst="roundRect">
            <a:avLst>
              <a:gd fmla="val 21429" name="adj"/>
            </a:avLst>
          </a:prstGeom>
          <a:solidFill>
            <a:srgbClr val="0A2344"/>
          </a:solidFill>
          <a:ln cap="flat" cmpd="sng" w="95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685800" y="6483096"/>
            <a:ext cx="10332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D0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1D0FF"/>
                </a:solidFill>
                <a:latin typeface="Arial"/>
                <a:ea typeface="Arial"/>
                <a:cs typeface="Arial"/>
                <a:sym typeface="Arial"/>
              </a:rPr>
              <a:t>Takeaway: </a:t>
            </a:r>
            <a:r>
              <a:rPr b="0" i="0" lang="en-US" sz="8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The right mindset is neither hype nor cynicism: these tools give real evidence, but they do not yet give a full map of large models.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428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8" name="Google Shape;318;p10"/>
          <p:cNvCxnSpPr/>
          <p:nvPr/>
        </p:nvCxnSpPr>
        <p:spPr>
          <a:xfrm>
            <a:off x="566928" y="310896"/>
            <a:ext cx="11018520" cy="0"/>
          </a:xfrm>
          <a:prstGeom prst="straightConnector1">
            <a:avLst/>
          </a:prstGeom>
          <a:noFill/>
          <a:ln cap="flat" cmpd="sng" w="17775">
            <a:solidFill>
              <a:srgbClr val="31D0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0"/>
          <p:cNvSpPr/>
          <p:nvPr/>
        </p:nvSpPr>
        <p:spPr>
          <a:xfrm>
            <a:off x="566928" y="429768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F5F9FF"/>
                </a:solidFill>
                <a:latin typeface="Play"/>
                <a:ea typeface="Play"/>
                <a:cs typeface="Play"/>
                <a:sym typeface="Play"/>
              </a:rPr>
              <a:t>Discussion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822960" y="1298448"/>
            <a:ext cx="10515600" cy="4434840"/>
          </a:xfrm>
          <a:prstGeom prst="roundRect">
            <a:avLst>
              <a:gd fmla="val 1649" name="adj"/>
            </a:avLst>
          </a:prstGeom>
          <a:solidFill>
            <a:srgbClr val="0A1F3B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762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1115583" y="1408170"/>
            <a:ext cx="727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Three good questions to end 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1143000" y="2148840"/>
            <a:ext cx="9829800" cy="685800"/>
          </a:xfrm>
          <a:prstGeom prst="roundRect">
            <a:avLst>
              <a:gd fmla="val 10667" name="adj"/>
            </a:avLst>
          </a:prstGeom>
          <a:solidFill>
            <a:srgbClr val="0D2342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1325880" y="2340864"/>
            <a:ext cx="347472" cy="256032"/>
          </a:xfrm>
          <a:prstGeom prst="roundRect">
            <a:avLst>
              <a:gd fmla="val 35714" name="adj"/>
            </a:avLst>
          </a:prstGeom>
          <a:solidFill>
            <a:srgbClr val="31D0FF"/>
          </a:solidFill>
          <a:ln cap="flat" cmpd="sng" w="9525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1325880" y="235000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1810512" y="2322576"/>
            <a:ext cx="8778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Would you trust AI more if researchers could inspect its internal circuits better?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1143000" y="3136392"/>
            <a:ext cx="9829800" cy="685800"/>
          </a:xfrm>
          <a:prstGeom prst="roundRect">
            <a:avLst>
              <a:gd fmla="val 10667" name="adj"/>
            </a:avLst>
          </a:prstGeom>
          <a:solidFill>
            <a:srgbClr val="102A4D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1325880" y="3328416"/>
            <a:ext cx="347472" cy="256032"/>
          </a:xfrm>
          <a:prstGeom prst="roundRect">
            <a:avLst>
              <a:gd fmla="val 35714" name="adj"/>
            </a:avLst>
          </a:prstGeom>
          <a:solidFill>
            <a:srgbClr val="31D0FF"/>
          </a:solidFill>
          <a:ln cap="flat" cmpd="sng" w="9525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1325880" y="3337560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1810512" y="3310128"/>
            <a:ext cx="8778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Is checking outputs enough, or do we also need to understand the inside?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1143000" y="4123944"/>
            <a:ext cx="9829800" cy="685800"/>
          </a:xfrm>
          <a:prstGeom prst="roundRect">
            <a:avLst>
              <a:gd fmla="val 10667" name="adj"/>
            </a:avLst>
          </a:prstGeom>
          <a:solidFill>
            <a:srgbClr val="0D2342"/>
          </a:solidFill>
          <a:ln cap="flat" cmpd="sng" w="12700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1325880" y="4315968"/>
            <a:ext cx="347472" cy="256032"/>
          </a:xfrm>
          <a:prstGeom prst="roundRect">
            <a:avLst>
              <a:gd fmla="val 35714" name="adj"/>
            </a:avLst>
          </a:prstGeom>
          <a:solidFill>
            <a:srgbClr val="31D0FF"/>
          </a:solidFill>
          <a:ln cap="flat" cmpd="sng" w="9525">
            <a:solidFill>
              <a:srgbClr val="31D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1325880" y="4325112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4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6142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1810512" y="4297680"/>
            <a:ext cx="87782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9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5F9FF"/>
                </a:solidFill>
                <a:latin typeface="Arial"/>
                <a:ea typeface="Arial"/>
                <a:cs typeface="Arial"/>
                <a:sym typeface="Arial"/>
              </a:rPr>
              <a:t>If we can only partly understand a model, is that still useful?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1143000" y="5376672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D4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If you remember one sentence: mechanistic interpretability is the effort to turn AI understanding into a science of hypotheses, interventions, and tested mechanisms.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566928" y="6446520"/>
            <a:ext cx="10716768" cy="256032"/>
          </a:xfrm>
          <a:prstGeom prst="roundRect">
            <a:avLst>
              <a:gd fmla="val 21429" name="adj"/>
            </a:avLst>
          </a:prstGeom>
          <a:solidFill>
            <a:srgbClr val="0A2344"/>
          </a:solidFill>
          <a:ln cap="flat" cmpd="sng" w="9525">
            <a:solidFill>
              <a:srgbClr val="1E4E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685800" y="6483096"/>
            <a:ext cx="103327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D0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1D0FF"/>
                </a:solidFill>
                <a:latin typeface="Arial"/>
                <a:ea typeface="Arial"/>
                <a:cs typeface="Arial"/>
                <a:sym typeface="Arial"/>
              </a:rPr>
              <a:t>Takeaway: </a:t>
            </a:r>
            <a:r>
              <a:rPr b="0" i="0" lang="en-US" sz="850" u="none" cap="none" strike="noStrike">
                <a:solidFill>
                  <a:srgbClr val="9FB6D4"/>
                </a:solidFill>
                <a:latin typeface="Arial"/>
                <a:ea typeface="Arial"/>
                <a:cs typeface="Arial"/>
                <a:sym typeface="Arial"/>
              </a:rPr>
              <a:t>Mechanistic interpretability does not fully open the black box, but it gives us real ways to test what parts of the box matter.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2026-03-28T01:19:16Z</dcterms:created>
  <dc:creator>OpenAI</dc:creator>
</cp:coreProperties>
</file>